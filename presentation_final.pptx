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8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8.svg" ContentType="image/sv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618B05F-9ED4-488F-BF7D-25811E189046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DF9A74-8539-44C2-AE0D-C82C2F0FCF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31BBEC-3268-4F42-A2CA-AAFAB0ECB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4D78A5-FC84-4836-8C04-259343ECB9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B104E6-14F1-4BCF-B4F2-820A119348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3A381B-D63E-47EA-A52D-B07B28D656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9B75BC-157A-4D0F-8141-6138B365B3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6589EF-3D5B-4143-8AA0-764CABEB89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D71258-1696-46CD-A4A1-740DB06B41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2A4551-76CC-4C91-B569-EEFCD42270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F46E82-C8AA-4234-965B-C0804956C8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CD88A9-BC77-4629-89F8-C144752286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547F1C-552A-49B5-8567-C2407F31A4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70B74E-AAF4-40CC-B9E2-48CAB92828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E5BC9C-A150-4510-9B26-BC7429030D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DB2B72-BD12-4383-9A00-99097DF45E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03504E-8327-454C-98BB-B8D0C32498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A66DA0-43E7-4B1F-86DF-B01DB7CFF2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3072EB-2087-4341-B8B9-286722D22B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FB4DB9-31AC-410D-9978-E8B9047E9F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Predeterminad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5942520" cy="5142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5943600" y="0"/>
            <a:ext cx="3199320" cy="51426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5760720" y="0"/>
            <a:ext cx="108720" cy="51426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360" tIns="45000" rIns="5436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6172200" y="914400"/>
            <a:ext cx="2284920" cy="228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3"/>
          <p:cNvSpPr/>
          <p:nvPr/>
        </p:nvSpPr>
        <p:spPr>
          <a:xfrm>
            <a:off x="548640" y="1280160"/>
            <a:ext cx="50281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PREDICTIVO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48640" y="1920240"/>
            <a:ext cx="50281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E8500A"/>
                </a:solidFill>
                <a:effectLst/>
                <a:uFillTx/>
                <a:latin typeface="Calibri"/>
                <a:ea typeface="Calibri"/>
              </a:rPr>
              <a:t>DE SEVERIDAD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548640" y="2651760"/>
            <a:ext cx="2284920" cy="44640"/>
          </a:xfrm>
          <a:prstGeom prst="rect">
            <a:avLst/>
          </a:prstGeom>
          <a:solidFill>
            <a:srgbClr val="2E73C2"/>
          </a:solidFill>
          <a:ln w="12700">
            <a:solidFill>
              <a:srgbClr val="2E73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548640" y="2788920"/>
            <a:ext cx="5028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B4CC"/>
                </a:solidFill>
                <a:effectLst/>
                <a:uFillTx/>
                <a:latin typeface="Calibri"/>
                <a:ea typeface="Calibri"/>
              </a:rPr>
              <a:t>Predicción de accidentes de tráfico · STATS19 UK · 2019–2024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0" y="4754880"/>
            <a:ext cx="9142920" cy="3877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457200" y="477324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Machine Learning · Clasificación Multiclase · CatBoost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45720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Objetivo del proyecto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365760" y="960120"/>
            <a:ext cx="502884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365760" y="960120"/>
            <a:ext cx="5028840" cy="637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502920" y="107892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¿Qué hace el sistema?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594360" y="1645920"/>
            <a:ext cx="456840" cy="456840"/>
          </a:xfr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0" descr="preencoded.png"/>
          <p:cNvPicPr/>
          <p:nvPr/>
        </p:nvPicPr>
        <p:blipFill>
          <a:blip r:embed="rId1"/>
          <a:stretch/>
        </p:blipFill>
        <p:spPr>
          <a:xfrm flipH="1" rot="10800000">
            <a:off x="734760" y="1440000"/>
            <a:ext cx="525240" cy="23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Shape 10"/>
          <p:cNvSpPr/>
          <p:nvPr/>
        </p:nvSpPr>
        <p:spPr>
          <a:xfrm>
            <a:off x="594360" y="2423160"/>
            <a:ext cx="456840" cy="456840"/>
          </a:xfr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594360" y="3200400"/>
            <a:ext cx="456840" cy="456840"/>
          </a:xfr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2" descr="preencoded.png"/>
          <p:cNvPicPr/>
          <p:nvPr/>
        </p:nvPicPr>
        <p:blipFill>
          <a:blip r:embed="rId2"/>
          <a:stretch/>
        </p:blipFill>
        <p:spPr>
          <a:xfrm>
            <a:off x="658440" y="32277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Shape 17"/>
          <p:cNvSpPr/>
          <p:nvPr/>
        </p:nvSpPr>
        <p:spPr>
          <a:xfrm>
            <a:off x="594360" y="3977640"/>
            <a:ext cx="456840" cy="456840"/>
          </a:xfr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3" descr="preencoded.png"/>
          <p:cNvPicPr/>
          <p:nvPr/>
        </p:nvPicPr>
        <p:blipFill>
          <a:blip r:embed="rId3"/>
          <a:stretch/>
        </p:blipFill>
        <p:spPr>
          <a:xfrm>
            <a:off x="658440" y="4005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Shape 20"/>
          <p:cNvSpPr/>
          <p:nvPr/>
        </p:nvSpPr>
        <p:spPr>
          <a:xfrm>
            <a:off x="5669280" y="1051560"/>
            <a:ext cx="3200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5669280" y="1051560"/>
            <a:ext cx="3200040" cy="637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4" descr="preencoded.png"/>
          <p:cNvPicPr/>
          <p:nvPr/>
        </p:nvPicPr>
        <p:blipFill>
          <a:blip r:embed="rId4"/>
          <a:stretch/>
        </p:blipFill>
        <p:spPr>
          <a:xfrm>
            <a:off x="5806440" y="12801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22"/>
          <p:cNvSpPr/>
          <p:nvPr/>
        </p:nvSpPr>
        <p:spPr>
          <a:xfrm>
            <a:off x="6446520" y="1234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Cobertura ampliada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5806440" y="182880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Accidentes sin testigos presenciales cubiertos automáticamente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5669280" y="3017520"/>
            <a:ext cx="3200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5669280" y="3017520"/>
            <a:ext cx="3200040" cy="6372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5" descr="preencoded.png"/>
          <p:cNvPicPr/>
          <p:nvPr/>
        </p:nvPicPr>
        <p:blipFill>
          <a:blip r:embed="rId5"/>
          <a:stretch/>
        </p:blipFill>
        <p:spPr>
          <a:xfrm>
            <a:off x="5806440" y="324612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6"/>
          <p:cNvSpPr/>
          <p:nvPr/>
        </p:nvSpPr>
        <p:spPr>
          <a:xfrm>
            <a:off x="6446520" y="32004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Reducción de tiempos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7"/>
          <p:cNvSpPr/>
          <p:nvPr/>
        </p:nvSpPr>
        <p:spPr>
          <a:xfrm>
            <a:off x="5806440" y="379476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Respuesta más rápida en los casos más críticos y de mayor severidad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10760" y="1354680"/>
            <a:ext cx="4629240" cy="358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457200" y="1098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Datos utilizados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457200" y="1005840"/>
            <a:ext cx="3839400" cy="913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548640" y="1097280"/>
            <a:ext cx="547560" cy="54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3"/>
          <p:cNvSpPr/>
          <p:nvPr/>
        </p:nvSpPr>
        <p:spPr>
          <a:xfrm>
            <a:off x="1188720" y="1078920"/>
            <a:ext cx="2925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STATS 19 — Dpto. de Tráfico UK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88720" y="1417320"/>
            <a:ext cx="2925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07D3A"/>
                </a:solidFill>
                <a:effectLst/>
                <a:uFillTx/>
                <a:latin typeface="Calibri"/>
                <a:ea typeface="Calibri"/>
              </a:rPr>
              <a:t>2019 – 2024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457200" y="2286000"/>
            <a:ext cx="2559240" cy="228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457200" y="2286000"/>
            <a:ext cx="2559240" cy="720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1" descr="preencoded.png"/>
          <p:cNvPicPr/>
          <p:nvPr/>
        </p:nvPicPr>
        <p:blipFill>
          <a:blip r:embed="rId2"/>
          <a:stretch/>
        </p:blipFill>
        <p:spPr>
          <a:xfrm>
            <a:off x="1417320" y="256032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7"/>
          <p:cNvSpPr/>
          <p:nvPr/>
        </p:nvSpPr>
        <p:spPr>
          <a:xfrm>
            <a:off x="457200" y="3337560"/>
            <a:ext cx="2559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Colisiones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457200" y="3749040"/>
            <a:ext cx="2559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Datos del accidente,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localización y condiciones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3291840" y="2286000"/>
            <a:ext cx="2559240" cy="228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3291840" y="2286000"/>
            <a:ext cx="2559240" cy="72000"/>
          </a:xfrm>
          <a:prstGeom prst="rect">
            <a:avLst/>
          </a:prstGeom>
          <a:solidFill>
            <a:srgbClr val="2E73C2"/>
          </a:solidFill>
          <a:ln w="12700">
            <a:solidFill>
              <a:srgbClr val="2E73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2" descr="preencoded.png"/>
          <p:cNvPicPr/>
          <p:nvPr/>
        </p:nvPicPr>
        <p:blipFill>
          <a:blip r:embed="rId3"/>
          <a:stretch/>
        </p:blipFill>
        <p:spPr>
          <a:xfrm>
            <a:off x="4251960" y="256032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11"/>
          <p:cNvSpPr/>
          <p:nvPr/>
        </p:nvSpPr>
        <p:spPr>
          <a:xfrm>
            <a:off x="3291840" y="3337560"/>
            <a:ext cx="2559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Víctimas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3291840" y="3749040"/>
            <a:ext cx="2559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Personas involucradas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6126480" y="2286000"/>
            <a:ext cx="2559240" cy="228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6126480" y="2286000"/>
            <a:ext cx="2559240" cy="72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3" descr="preencoded.png"/>
          <p:cNvPicPr/>
          <p:nvPr/>
        </p:nvPicPr>
        <p:blipFill>
          <a:blip r:embed="rId4"/>
          <a:stretch/>
        </p:blipFill>
        <p:spPr>
          <a:xfrm>
            <a:off x="7086600" y="2560320"/>
            <a:ext cx="639000" cy="63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15"/>
          <p:cNvSpPr/>
          <p:nvPr/>
        </p:nvSpPr>
        <p:spPr>
          <a:xfrm>
            <a:off x="6126480" y="3337560"/>
            <a:ext cx="2559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Vehículos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6126480" y="3749040"/>
            <a:ext cx="2559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Tipos de vehículo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y características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4D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0" y="2103120"/>
            <a:ext cx="9142920" cy="720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0" y="2286000"/>
            <a:ext cx="9142920" cy="21960"/>
          </a:xfrm>
          <a:prstGeom prst="rect">
            <a:avLst/>
          </a:prstGeom>
          <a:solidFill>
            <a:srgbClr val="F07D3A"/>
          </a:solidFill>
          <a:ln w="12700">
            <a:solidFill>
              <a:srgbClr val="F07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720000" y="1080000"/>
            <a:ext cx="750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pc="7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PREPROCESAMIENTO</a:t>
            </a:r>
            <a:endParaRPr lang="es-E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914400" y="2514600"/>
            <a:ext cx="7314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A8C4E0"/>
                </a:solidFill>
                <a:effectLst/>
                <a:uFillTx/>
                <a:latin typeface="Calibri"/>
                <a:ea typeface="Calibri"/>
              </a:rPr>
              <a:t>Limpieza · Variables · División de datos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/>
          <a:stretch/>
        </p:blipFill>
        <p:spPr>
          <a:xfrm>
            <a:off x="4114800" y="3246120"/>
            <a:ext cx="913320" cy="91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457200" y="1098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Variable a predecir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365760" y="1005840"/>
            <a:ext cx="3107880" cy="3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365760" y="1005840"/>
            <a:ext cx="3107880" cy="630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457200" y="114300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Severidad de la víctima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457200" y="1737360"/>
            <a:ext cx="2833560" cy="68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457200" y="1737360"/>
            <a:ext cx="63000" cy="684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594360" y="178308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Slight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594360" y="2084760"/>
            <a:ext cx="1644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79.8%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1440000" y="1920240"/>
            <a:ext cx="1604160" cy="318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457200" y="2651760"/>
            <a:ext cx="2833560" cy="68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457200" y="2651760"/>
            <a:ext cx="63000" cy="68472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594360" y="269748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Serious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594360" y="2999160"/>
            <a:ext cx="1644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18.3%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1440000" y="2880000"/>
            <a:ext cx="367200" cy="31896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457200" y="3566160"/>
            <a:ext cx="2833560" cy="68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457200" y="3566160"/>
            <a:ext cx="63000" cy="68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594360" y="3611880"/>
            <a:ext cx="1644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Fatal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594360" y="3913560"/>
            <a:ext cx="1644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1.9%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1440000" y="3780000"/>
            <a:ext cx="37080" cy="318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720" tIns="45000" rIns="1872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457200" y="4343400"/>
            <a:ext cx="2925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Distribución inicial → desequilibrio de clases significativo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3840480" y="1005840"/>
            <a:ext cx="4936680" cy="388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2"/>
          <p:cNvSpPr/>
          <p:nvPr/>
        </p:nvSpPr>
        <p:spPr>
          <a:xfrm>
            <a:off x="3840480" y="1005840"/>
            <a:ext cx="4936680" cy="63000"/>
          </a:xfrm>
          <a:prstGeom prst="rect">
            <a:avLst/>
          </a:prstGeom>
          <a:solidFill>
            <a:srgbClr val="2E73C2"/>
          </a:solidFill>
          <a:ln w="12700">
            <a:solidFill>
              <a:srgbClr val="2E73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3"/>
          <p:cNvSpPr/>
          <p:nvPr/>
        </p:nvSpPr>
        <p:spPr>
          <a:xfrm>
            <a:off x="3931920" y="1143000"/>
            <a:ext cx="4753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Distribución agregada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4"/>
          <p:cNvSpPr/>
          <p:nvPr/>
        </p:nvSpPr>
        <p:spPr>
          <a:xfrm>
            <a:off x="4023360" y="1737360"/>
            <a:ext cx="45709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Para mejorar el balance de clases, se agrupan Serious y Fatal en una sola categoría: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5"/>
          <p:cNvSpPr/>
          <p:nvPr/>
        </p:nvSpPr>
        <p:spPr>
          <a:xfrm>
            <a:off x="3931920" y="2514600"/>
            <a:ext cx="4570920" cy="82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6"/>
          <p:cNvSpPr/>
          <p:nvPr/>
        </p:nvSpPr>
        <p:spPr>
          <a:xfrm>
            <a:off x="3931920" y="2514600"/>
            <a:ext cx="63000" cy="821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7"/>
          <p:cNvSpPr/>
          <p:nvPr/>
        </p:nvSpPr>
        <p:spPr>
          <a:xfrm>
            <a:off x="4069080" y="2578680"/>
            <a:ext cx="2284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Slight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8"/>
          <p:cNvSpPr/>
          <p:nvPr/>
        </p:nvSpPr>
        <p:spPr>
          <a:xfrm>
            <a:off x="4069080" y="292608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79.8%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9"/>
          <p:cNvSpPr/>
          <p:nvPr/>
        </p:nvSpPr>
        <p:spPr>
          <a:xfrm>
            <a:off x="5542920" y="2743200"/>
            <a:ext cx="2376360" cy="364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0"/>
          <p:cNvSpPr/>
          <p:nvPr/>
        </p:nvSpPr>
        <p:spPr>
          <a:xfrm>
            <a:off x="3931920" y="3520440"/>
            <a:ext cx="4570920" cy="82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1"/>
          <p:cNvSpPr/>
          <p:nvPr/>
        </p:nvSpPr>
        <p:spPr>
          <a:xfrm>
            <a:off x="3931920" y="3520440"/>
            <a:ext cx="63000" cy="821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2"/>
          <p:cNvSpPr/>
          <p:nvPr/>
        </p:nvSpPr>
        <p:spPr>
          <a:xfrm>
            <a:off x="4069080" y="3584520"/>
            <a:ext cx="2284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Serious + Fatal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3"/>
          <p:cNvSpPr/>
          <p:nvPr/>
        </p:nvSpPr>
        <p:spPr>
          <a:xfrm>
            <a:off x="4069080" y="3931920"/>
            <a:ext cx="2284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20.2%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4"/>
          <p:cNvSpPr/>
          <p:nvPr/>
        </p:nvSpPr>
        <p:spPr>
          <a:xfrm>
            <a:off x="5542920" y="3749040"/>
            <a:ext cx="602280" cy="364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5"/>
          <p:cNvSpPr/>
          <p:nvPr/>
        </p:nvSpPr>
        <p:spPr>
          <a:xfrm>
            <a:off x="4023360" y="457200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4D8C"/>
                </a:solidFill>
                <a:effectLst/>
                <a:uFillTx/>
                <a:latin typeface="Calibri"/>
                <a:ea typeface="Calibri"/>
              </a:rPr>
              <a:t>Clasificación binaria: Slight vs Serious+Fatal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457200" y="1098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Eliminación de variables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365760" y="960120"/>
            <a:ext cx="4022280" cy="109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365760" y="960120"/>
            <a:ext cx="63000" cy="10962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594360" y="118872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4"/>
          <p:cNvSpPr/>
          <p:nvPr/>
        </p:nvSpPr>
        <p:spPr>
          <a:xfrm>
            <a:off x="1188720" y="1051560"/>
            <a:ext cx="3016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Históricas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1188720" y="1435680"/>
            <a:ext cx="3016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Variables sin relevancia temporal para la predicción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4754880" y="960120"/>
            <a:ext cx="4022280" cy="109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4754880" y="960120"/>
            <a:ext cx="63000" cy="10962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1" descr="preencoded.png"/>
          <p:cNvPicPr/>
          <p:nvPr/>
        </p:nvPicPr>
        <p:blipFill>
          <a:blip r:embed="rId2"/>
          <a:stretch/>
        </p:blipFill>
        <p:spPr>
          <a:xfrm>
            <a:off x="4983480" y="118872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8"/>
          <p:cNvSpPr/>
          <p:nvPr/>
        </p:nvSpPr>
        <p:spPr>
          <a:xfrm>
            <a:off x="5577840" y="1051560"/>
            <a:ext cx="3016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Directamente relacionadas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5577840" y="1435680"/>
            <a:ext cx="3016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Variables con fuga de información hacia el target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365760" y="2286000"/>
            <a:ext cx="4022280" cy="109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365760" y="2286000"/>
            <a:ext cx="63000" cy="10962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2" descr="preencoded.png"/>
          <p:cNvPicPr/>
          <p:nvPr/>
        </p:nvPicPr>
        <p:blipFill>
          <a:blip r:embed="rId3"/>
          <a:stretch/>
        </p:blipFill>
        <p:spPr>
          <a:xfrm>
            <a:off x="594360" y="251460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12"/>
          <p:cNvSpPr/>
          <p:nvPr/>
        </p:nvSpPr>
        <p:spPr>
          <a:xfrm>
            <a:off x="1188720" y="2377440"/>
            <a:ext cx="3016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Identificadores y referencias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1188720" y="2761560"/>
            <a:ext cx="3016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Códigos únicos sin valor predictivo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4754880" y="2286000"/>
            <a:ext cx="4022280" cy="109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4754880" y="2286000"/>
            <a:ext cx="63000" cy="10962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3" descr="preencoded.png"/>
          <p:cNvPicPr/>
          <p:nvPr/>
        </p:nvPicPr>
        <p:blipFill>
          <a:blip r:embed="rId4"/>
          <a:stretch/>
        </p:blipFill>
        <p:spPr>
          <a:xfrm>
            <a:off x="4983480" y="251460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16"/>
          <p:cNvSpPr/>
          <p:nvPr/>
        </p:nvSpPr>
        <p:spPr>
          <a:xfrm>
            <a:off x="5577840" y="2377440"/>
            <a:ext cx="3016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Alta cardinalidad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5577840" y="2761560"/>
            <a:ext cx="3016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Demasiados valores únicos para procesar eficientemente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365760" y="3611880"/>
            <a:ext cx="4022280" cy="109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365760" y="3611880"/>
            <a:ext cx="63000" cy="10962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4" descr="preencoded.png"/>
          <p:cNvPicPr/>
          <p:nvPr/>
        </p:nvPicPr>
        <p:blipFill>
          <a:blip r:embed="rId5"/>
          <a:stretch/>
        </p:blipFill>
        <p:spPr>
          <a:xfrm>
            <a:off x="594360" y="384048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20"/>
          <p:cNvSpPr/>
          <p:nvPr/>
        </p:nvSpPr>
        <p:spPr>
          <a:xfrm>
            <a:off x="1188720" y="3703320"/>
            <a:ext cx="3016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Excesivos valores desconocidos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1188720" y="4087440"/>
            <a:ext cx="3016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Columnas con más del umbral permitido.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4754880" y="3611880"/>
            <a:ext cx="4022280" cy="109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4754880" y="3611880"/>
            <a:ext cx="63000" cy="10962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5" descr="preencoded.png"/>
          <p:cNvPicPr/>
          <p:nvPr/>
        </p:nvPicPr>
        <p:blipFill>
          <a:blip r:embed="rId6"/>
          <a:stretch/>
        </p:blipFill>
        <p:spPr>
          <a:xfrm>
            <a:off x="4983480" y="384048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24"/>
          <p:cNvSpPr/>
          <p:nvPr/>
        </p:nvSpPr>
        <p:spPr>
          <a:xfrm>
            <a:off x="5577840" y="3703320"/>
            <a:ext cx="3016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 disponibles en inferencia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5"/>
          <p:cNvSpPr/>
          <p:nvPr/>
        </p:nvSpPr>
        <p:spPr>
          <a:xfrm>
            <a:off x="5577840" y="4087440"/>
            <a:ext cx="30164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Variables no accesibles en producción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6" descr="preencoded.png"/>
          <p:cNvPicPr/>
          <p:nvPr/>
        </p:nvPicPr>
        <p:blipFill>
          <a:blip r:embed="rId7"/>
          <a:stretch/>
        </p:blipFill>
        <p:spPr>
          <a:xfrm>
            <a:off x="8412480" y="91440"/>
            <a:ext cx="501840" cy="50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27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1"/>
          <p:cNvSpPr/>
          <p:nvPr/>
        </p:nvSpPr>
        <p:spPr>
          <a:xfrm>
            <a:off x="457200" y="109800"/>
            <a:ext cx="777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Ingeniería de variables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8" descr="preencoded.png"/>
          <p:cNvPicPr/>
          <p:nvPr/>
        </p:nvPicPr>
        <p:blipFill>
          <a:blip r:embed="rId1"/>
          <a:stretch/>
        </p:blipFill>
        <p:spPr>
          <a:xfrm>
            <a:off x="8412480" y="1371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Shape 33"/>
          <p:cNvSpPr/>
          <p:nvPr/>
        </p:nvSpPr>
        <p:spPr>
          <a:xfrm>
            <a:off x="365760" y="960120"/>
            <a:ext cx="8412120" cy="639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9" descr="preencoded.png"/>
          <p:cNvPicPr/>
          <p:nvPr/>
        </p:nvPicPr>
        <p:blipFill>
          <a:blip r:embed="rId2"/>
          <a:stretch/>
        </p:blipFill>
        <p:spPr>
          <a:xfrm>
            <a:off x="502920" y="10789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43"/>
          <p:cNvSpPr/>
          <p:nvPr/>
        </p:nvSpPr>
        <p:spPr>
          <a:xfrm>
            <a:off x="1005840" y="105156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 crean 2 nuevas variables a partir de los datos existentes para mejorar la capacidad predictiva del modelo.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5"/>
          <p:cNvSpPr/>
          <p:nvPr/>
        </p:nvSpPr>
        <p:spPr>
          <a:xfrm>
            <a:off x="365760" y="1783080"/>
            <a:ext cx="4023000" cy="306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6"/>
          <p:cNvSpPr/>
          <p:nvPr/>
        </p:nvSpPr>
        <p:spPr>
          <a:xfrm>
            <a:off x="365760" y="1783080"/>
            <a:ext cx="4023000" cy="63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10" descr="preencoded.png"/>
          <p:cNvPicPr/>
          <p:nvPr/>
        </p:nvPicPr>
        <p:blipFill>
          <a:blip r:embed="rId3"/>
          <a:stretch/>
        </p:blipFill>
        <p:spPr>
          <a:xfrm>
            <a:off x="594360" y="19202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45"/>
          <p:cNvSpPr/>
          <p:nvPr/>
        </p:nvSpPr>
        <p:spPr>
          <a:xfrm>
            <a:off x="1188720" y="189288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geo_hash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8"/>
          <p:cNvSpPr/>
          <p:nvPr/>
        </p:nvSpPr>
        <p:spPr>
          <a:xfrm>
            <a:off x="502920" y="2560320"/>
            <a:ext cx="3748680" cy="36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7"/>
          <p:cNvSpPr/>
          <p:nvPr/>
        </p:nvSpPr>
        <p:spPr>
          <a:xfrm>
            <a:off x="502920" y="26701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¿Cómo se construye?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9"/>
          <p:cNvSpPr/>
          <p:nvPr/>
        </p:nvSpPr>
        <p:spPr>
          <a:xfrm>
            <a:off x="502920" y="2971800"/>
            <a:ext cx="3748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 aplica clustering sobre las coordenadas de latitud y longitud de cada accidente. Cada cluster recibe una etiqueta única que resume la zona geográfica.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0"/>
          <p:cNvSpPr/>
          <p:nvPr/>
        </p:nvSpPr>
        <p:spPr>
          <a:xfrm>
            <a:off x="502920" y="3840480"/>
            <a:ext cx="3748680" cy="36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1"/>
          <p:cNvSpPr/>
          <p:nvPr/>
        </p:nvSpPr>
        <p:spPr>
          <a:xfrm>
            <a:off x="502920" y="395028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¿Por qué aporta valor?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3"/>
          <p:cNvSpPr/>
          <p:nvPr/>
        </p:nvSpPr>
        <p:spPr>
          <a:xfrm>
            <a:off x="502920" y="425196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Agrupa zonas con patrones de accidentalidad similares, capturando contexto geoespacial sin alta cardinalidad.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2"/>
          <p:cNvSpPr/>
          <p:nvPr/>
        </p:nvSpPr>
        <p:spPr>
          <a:xfrm>
            <a:off x="4754880" y="1783080"/>
            <a:ext cx="4023000" cy="325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4"/>
          <p:cNvSpPr/>
          <p:nvPr/>
        </p:nvSpPr>
        <p:spPr>
          <a:xfrm>
            <a:off x="4754880" y="1783080"/>
            <a:ext cx="4023000" cy="6372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11" descr="preencoded.png"/>
          <p:cNvPicPr/>
          <p:nvPr/>
        </p:nvPicPr>
        <p:blipFill>
          <a:blip r:embed="rId4"/>
          <a:stretch/>
        </p:blipFill>
        <p:spPr>
          <a:xfrm>
            <a:off x="4983480" y="19202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 55"/>
          <p:cNvSpPr/>
          <p:nvPr/>
        </p:nvSpPr>
        <p:spPr>
          <a:xfrm>
            <a:off x="5577840" y="189288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day_period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6"/>
          <p:cNvSpPr/>
          <p:nvPr/>
        </p:nvSpPr>
        <p:spPr>
          <a:xfrm>
            <a:off x="4892040" y="2560320"/>
            <a:ext cx="3748680" cy="36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7"/>
          <p:cNvSpPr/>
          <p:nvPr/>
        </p:nvSpPr>
        <p:spPr>
          <a:xfrm>
            <a:off x="4892040" y="26701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¿Cómo se construye?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9"/>
          <p:cNvSpPr/>
          <p:nvPr/>
        </p:nvSpPr>
        <p:spPr>
          <a:xfrm>
            <a:off x="4892040" y="2971800"/>
            <a:ext cx="3748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 discretiza la hora del accidente en franjas horarias con significado real: madrugada, mañana, tarde y noche.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8"/>
          <p:cNvSpPr/>
          <p:nvPr/>
        </p:nvSpPr>
        <p:spPr>
          <a:xfrm>
            <a:off x="4892040" y="3749040"/>
            <a:ext cx="868320" cy="456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1"/>
          <p:cNvSpPr/>
          <p:nvPr/>
        </p:nvSpPr>
        <p:spPr>
          <a:xfrm>
            <a:off x="4892040" y="37490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Noche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3"/>
          <p:cNvSpPr/>
          <p:nvPr/>
        </p:nvSpPr>
        <p:spPr>
          <a:xfrm>
            <a:off x="4892040" y="398664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  <a:ea typeface="Calibri"/>
              </a:rPr>
              <a:t>21–06h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0"/>
          <p:cNvSpPr/>
          <p:nvPr/>
        </p:nvSpPr>
        <p:spPr>
          <a:xfrm>
            <a:off x="5833800" y="3749040"/>
            <a:ext cx="868320" cy="456840"/>
          </a:xfrm>
          <a:prstGeom prst="rect">
            <a:avLst/>
          </a:prstGeom>
          <a:solidFill>
            <a:srgbClr val="2E73C2"/>
          </a:solidFill>
          <a:ln w="12700">
            <a:solidFill>
              <a:srgbClr val="2E73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5"/>
          <p:cNvSpPr/>
          <p:nvPr/>
        </p:nvSpPr>
        <p:spPr>
          <a:xfrm>
            <a:off x="5833800" y="37490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Mañana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7"/>
          <p:cNvSpPr/>
          <p:nvPr/>
        </p:nvSpPr>
        <p:spPr>
          <a:xfrm>
            <a:off x="5833800" y="398664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  <a:ea typeface="Calibri"/>
              </a:rPr>
              <a:t>06–12h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52"/>
          <p:cNvSpPr/>
          <p:nvPr/>
        </p:nvSpPr>
        <p:spPr>
          <a:xfrm>
            <a:off x="6775560" y="3749040"/>
            <a:ext cx="868320" cy="45684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9"/>
          <p:cNvSpPr/>
          <p:nvPr/>
        </p:nvSpPr>
        <p:spPr>
          <a:xfrm>
            <a:off x="6775560" y="37490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Mediodia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1"/>
          <p:cNvSpPr/>
          <p:nvPr/>
        </p:nvSpPr>
        <p:spPr>
          <a:xfrm>
            <a:off x="6775560" y="398664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  <a:ea typeface="Calibri"/>
              </a:rPr>
              <a:t>12–17h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54"/>
          <p:cNvSpPr/>
          <p:nvPr/>
        </p:nvSpPr>
        <p:spPr>
          <a:xfrm>
            <a:off x="7717680" y="3749040"/>
            <a:ext cx="868320" cy="456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3"/>
          <p:cNvSpPr/>
          <p:nvPr/>
        </p:nvSpPr>
        <p:spPr>
          <a:xfrm>
            <a:off x="7717680" y="37490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Tarde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5"/>
          <p:cNvSpPr/>
          <p:nvPr/>
        </p:nvSpPr>
        <p:spPr>
          <a:xfrm>
            <a:off x="7717680" y="3986640"/>
            <a:ext cx="868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CDDEE"/>
                </a:solidFill>
                <a:effectLst/>
                <a:uFillTx/>
                <a:latin typeface="Calibri"/>
                <a:ea typeface="Calibri"/>
              </a:rPr>
              <a:t>17–21h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6"/>
          <p:cNvSpPr/>
          <p:nvPr/>
        </p:nvSpPr>
        <p:spPr>
          <a:xfrm>
            <a:off x="4892040" y="4316040"/>
            <a:ext cx="3748680" cy="36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78"/>
          <p:cNvSpPr/>
          <p:nvPr/>
        </p:nvSpPr>
        <p:spPr>
          <a:xfrm>
            <a:off x="4892040" y="43524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¿Por qué aporta valor?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0"/>
          <p:cNvSpPr/>
          <p:nvPr/>
        </p:nvSpPr>
        <p:spPr>
          <a:xfrm>
            <a:off x="4892040" y="46450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La hora exacta tiene alta cardinalidad; las franjas capturan el patrón temporal con menor ruido.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457200" y="1098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Partición de los datos (el gran reto)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0" descr="preencoded.png"/>
          <p:cNvPicPr/>
          <p:nvPr/>
        </p:nvPicPr>
        <p:blipFill>
          <a:blip r:embed="rId1"/>
          <a:stretch/>
        </p:blipFill>
        <p:spPr>
          <a:xfrm>
            <a:off x="8412480" y="10980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Shape 2"/>
          <p:cNvSpPr/>
          <p:nvPr/>
        </p:nvSpPr>
        <p:spPr>
          <a:xfrm>
            <a:off x="365760" y="914400"/>
            <a:ext cx="8411400" cy="9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365760" y="914400"/>
            <a:ext cx="63000" cy="95904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548640" y="1005840"/>
            <a:ext cx="80456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Víctimas y vehículos pertenecen al contexto de un accidente y no pueden separarse al dividir los datos en train y test.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457200" y="2103120"/>
            <a:ext cx="4113720" cy="2650680"/>
          </a:xfrm>
          <a:prstGeom prst="rect">
            <a:avLst/>
          </a:prstGeom>
          <a:solidFill>
            <a:srgbClr val="EBF4FF"/>
          </a:solidFill>
          <a:ln w="12700">
            <a:solidFill>
              <a:srgbClr val="2E73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548640" y="214884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4D8C"/>
                </a:solidFill>
                <a:effectLst/>
                <a:uFillTx/>
                <a:latin typeface="Calibri"/>
                <a:ea typeface="Calibri"/>
              </a:rPr>
              <a:t>Contexto del accidente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685800" y="2606040"/>
            <a:ext cx="1690560" cy="17820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685800" y="3594600"/>
            <a:ext cx="1690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4D8C"/>
                </a:solidFill>
                <a:effectLst/>
                <a:uFillTx/>
                <a:latin typeface="Calibri"/>
                <a:ea typeface="Calibri"/>
              </a:rPr>
              <a:t>Víctimas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1" descr="preencoded.png"/>
          <p:cNvPicPr/>
          <p:nvPr/>
        </p:nvPicPr>
        <p:blipFill>
          <a:blip r:embed="rId2"/>
          <a:stretch/>
        </p:blipFill>
        <p:spPr>
          <a:xfrm>
            <a:off x="1097280" y="2697480"/>
            <a:ext cx="82188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Shape 9"/>
          <p:cNvSpPr/>
          <p:nvPr/>
        </p:nvSpPr>
        <p:spPr>
          <a:xfrm>
            <a:off x="2651760" y="2606040"/>
            <a:ext cx="1690560" cy="1782000"/>
          </a:xfrm>
          <a:prstGeom prst="rect">
            <a:avLst/>
          </a:prstGeom>
          <a:solidFill>
            <a:srgbClr val="D1FAE5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2651760" y="3594600"/>
            <a:ext cx="1690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AE60"/>
                </a:solidFill>
                <a:effectLst/>
                <a:uFillTx/>
                <a:latin typeface="Calibri"/>
                <a:ea typeface="Calibri"/>
              </a:rPr>
              <a:t>Vehículos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2" descr="preencoded.png"/>
          <p:cNvPicPr/>
          <p:nvPr/>
        </p:nvPicPr>
        <p:blipFill>
          <a:blip r:embed="rId3"/>
          <a:stretch/>
        </p:blipFill>
        <p:spPr>
          <a:xfrm>
            <a:off x="3063240" y="2697480"/>
            <a:ext cx="82188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Shape 11"/>
          <p:cNvSpPr/>
          <p:nvPr/>
        </p:nvSpPr>
        <p:spPr>
          <a:xfrm>
            <a:off x="4937760" y="2103120"/>
            <a:ext cx="3747960" cy="293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2"/>
          <p:cNvSpPr/>
          <p:nvPr/>
        </p:nvSpPr>
        <p:spPr>
          <a:xfrm>
            <a:off x="4937760" y="2103120"/>
            <a:ext cx="3747960" cy="630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5029200" y="2212920"/>
            <a:ext cx="3565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Solución adoptada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5074920" y="2697480"/>
            <a:ext cx="273240" cy="27324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440680" y="267012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GroupShuffleSplit para división train/test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6"/>
          <p:cNvSpPr/>
          <p:nvPr/>
        </p:nvSpPr>
        <p:spPr>
          <a:xfrm>
            <a:off x="5074920" y="3383280"/>
            <a:ext cx="273240" cy="27324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5440680" y="335592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GroupKFold para validación cruzada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8"/>
          <p:cNvSpPr/>
          <p:nvPr/>
        </p:nvSpPr>
        <p:spPr>
          <a:xfrm>
            <a:off x="5074920" y="4069080"/>
            <a:ext cx="273240" cy="27324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9"/>
          <p:cNvSpPr/>
          <p:nvPr/>
        </p:nvSpPr>
        <p:spPr>
          <a:xfrm>
            <a:off x="5440680" y="404172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Índice de colisión como grupo de agrupación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 3" descr="preencoded.png"/>
          <p:cNvPicPr/>
          <p:nvPr/>
        </p:nvPicPr>
        <p:blipFill>
          <a:blip r:embed="rId4"/>
          <a:stretch/>
        </p:blipFill>
        <p:spPr>
          <a:xfrm>
            <a:off x="5074920" y="4572000"/>
            <a:ext cx="410400" cy="41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20"/>
          <p:cNvSpPr/>
          <p:nvPr/>
        </p:nvSpPr>
        <p:spPr>
          <a:xfrm>
            <a:off x="5577840" y="4572000"/>
            <a:ext cx="30164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Garantizando que ningún accidente queda dividido entre train y test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457200" y="1098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Filtración de datos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"/>
          <p:cNvSpPr/>
          <p:nvPr/>
        </p:nvSpPr>
        <p:spPr>
          <a:xfrm>
            <a:off x="320040" y="1947600"/>
            <a:ext cx="2467800" cy="364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320040" y="1984320"/>
            <a:ext cx="2467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Dataset original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"/>
          <p:cNvSpPr/>
          <p:nvPr/>
        </p:nvSpPr>
        <p:spPr>
          <a:xfrm>
            <a:off x="320040" y="231336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320040" y="235008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Accidente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6"/>
          <p:cNvSpPr/>
          <p:nvPr/>
        </p:nvSpPr>
        <p:spPr>
          <a:xfrm>
            <a:off x="1143000" y="231336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1143000" y="235008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Víctima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1965960" y="231336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1965960" y="235008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Vehículo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320040" y="266076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320040" y="268812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2"/>
          <p:cNvSpPr/>
          <p:nvPr/>
        </p:nvSpPr>
        <p:spPr>
          <a:xfrm>
            <a:off x="1143000" y="266076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1143000" y="268812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4"/>
          <p:cNvSpPr/>
          <p:nvPr/>
        </p:nvSpPr>
        <p:spPr>
          <a:xfrm>
            <a:off x="1965960" y="266076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1965960" y="268812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6"/>
          <p:cNvSpPr/>
          <p:nvPr/>
        </p:nvSpPr>
        <p:spPr>
          <a:xfrm>
            <a:off x="320040" y="295344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7"/>
          <p:cNvSpPr/>
          <p:nvPr/>
        </p:nvSpPr>
        <p:spPr>
          <a:xfrm>
            <a:off x="320040" y="298080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8"/>
          <p:cNvSpPr/>
          <p:nvPr/>
        </p:nvSpPr>
        <p:spPr>
          <a:xfrm>
            <a:off x="1143000" y="295344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9"/>
          <p:cNvSpPr/>
          <p:nvPr/>
        </p:nvSpPr>
        <p:spPr>
          <a:xfrm>
            <a:off x="1143000" y="298080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0"/>
          <p:cNvSpPr/>
          <p:nvPr/>
        </p:nvSpPr>
        <p:spPr>
          <a:xfrm>
            <a:off x="1965960" y="295344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1965960" y="298080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2"/>
          <p:cNvSpPr/>
          <p:nvPr/>
        </p:nvSpPr>
        <p:spPr>
          <a:xfrm>
            <a:off x="320040" y="324612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3"/>
          <p:cNvSpPr/>
          <p:nvPr/>
        </p:nvSpPr>
        <p:spPr>
          <a:xfrm>
            <a:off x="320040" y="327348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4"/>
          <p:cNvSpPr/>
          <p:nvPr/>
        </p:nvSpPr>
        <p:spPr>
          <a:xfrm>
            <a:off x="1143000" y="324612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5"/>
          <p:cNvSpPr/>
          <p:nvPr/>
        </p:nvSpPr>
        <p:spPr>
          <a:xfrm>
            <a:off x="1143000" y="327348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6"/>
          <p:cNvSpPr/>
          <p:nvPr/>
        </p:nvSpPr>
        <p:spPr>
          <a:xfrm>
            <a:off x="1965960" y="324612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7"/>
          <p:cNvSpPr/>
          <p:nvPr/>
        </p:nvSpPr>
        <p:spPr>
          <a:xfrm>
            <a:off x="1965960" y="327348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8"/>
          <p:cNvSpPr/>
          <p:nvPr/>
        </p:nvSpPr>
        <p:spPr>
          <a:xfrm>
            <a:off x="320040" y="353880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9"/>
          <p:cNvSpPr/>
          <p:nvPr/>
        </p:nvSpPr>
        <p:spPr>
          <a:xfrm>
            <a:off x="320040" y="35661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0"/>
          <p:cNvSpPr/>
          <p:nvPr/>
        </p:nvSpPr>
        <p:spPr>
          <a:xfrm>
            <a:off x="1143000" y="353880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1"/>
          <p:cNvSpPr/>
          <p:nvPr/>
        </p:nvSpPr>
        <p:spPr>
          <a:xfrm>
            <a:off x="1143000" y="35661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2"/>
          <p:cNvSpPr/>
          <p:nvPr/>
        </p:nvSpPr>
        <p:spPr>
          <a:xfrm>
            <a:off x="1965960" y="353880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3"/>
          <p:cNvSpPr/>
          <p:nvPr/>
        </p:nvSpPr>
        <p:spPr>
          <a:xfrm>
            <a:off x="1965960" y="35661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5"/>
          <p:cNvSpPr/>
          <p:nvPr/>
        </p:nvSpPr>
        <p:spPr>
          <a:xfrm>
            <a:off x="2834640" y="2011680"/>
            <a:ext cx="639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6"/>
          <p:cNvSpPr/>
          <p:nvPr/>
        </p:nvSpPr>
        <p:spPr>
          <a:xfrm>
            <a:off x="3291840" y="914400"/>
            <a:ext cx="265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Sin split en grupos ✗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7"/>
          <p:cNvSpPr/>
          <p:nvPr/>
        </p:nvSpPr>
        <p:spPr>
          <a:xfrm>
            <a:off x="3291840" y="1280160"/>
            <a:ext cx="2467800" cy="364680"/>
          </a:xfrm>
          <a:prstGeom prst="rect">
            <a:avLst/>
          </a:prstGeom>
          <a:solidFill>
            <a:srgbClr val="C0392B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8"/>
          <p:cNvSpPr/>
          <p:nvPr/>
        </p:nvSpPr>
        <p:spPr>
          <a:xfrm>
            <a:off x="3291840" y="1316880"/>
            <a:ext cx="2467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Train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39"/>
          <p:cNvSpPr/>
          <p:nvPr/>
        </p:nvSpPr>
        <p:spPr>
          <a:xfrm>
            <a:off x="3291840" y="164592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0"/>
          <p:cNvSpPr/>
          <p:nvPr/>
        </p:nvSpPr>
        <p:spPr>
          <a:xfrm>
            <a:off x="3291840" y="168264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Accidente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1"/>
          <p:cNvSpPr/>
          <p:nvPr/>
        </p:nvSpPr>
        <p:spPr>
          <a:xfrm>
            <a:off x="4114800" y="164592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2"/>
          <p:cNvSpPr/>
          <p:nvPr/>
        </p:nvSpPr>
        <p:spPr>
          <a:xfrm>
            <a:off x="4114800" y="168264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Víctima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43"/>
          <p:cNvSpPr/>
          <p:nvPr/>
        </p:nvSpPr>
        <p:spPr>
          <a:xfrm>
            <a:off x="4937760" y="164592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4"/>
          <p:cNvSpPr/>
          <p:nvPr/>
        </p:nvSpPr>
        <p:spPr>
          <a:xfrm>
            <a:off x="4937760" y="168264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Vehículo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5"/>
          <p:cNvSpPr/>
          <p:nvPr/>
        </p:nvSpPr>
        <p:spPr>
          <a:xfrm>
            <a:off x="3291840" y="199332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6"/>
          <p:cNvSpPr/>
          <p:nvPr/>
        </p:nvSpPr>
        <p:spPr>
          <a:xfrm>
            <a:off x="3291840" y="202068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7"/>
          <p:cNvSpPr/>
          <p:nvPr/>
        </p:nvSpPr>
        <p:spPr>
          <a:xfrm>
            <a:off x="4114800" y="199332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8"/>
          <p:cNvSpPr/>
          <p:nvPr/>
        </p:nvSpPr>
        <p:spPr>
          <a:xfrm>
            <a:off x="4114800" y="202068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49"/>
          <p:cNvSpPr/>
          <p:nvPr/>
        </p:nvSpPr>
        <p:spPr>
          <a:xfrm>
            <a:off x="4937760" y="199332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0"/>
          <p:cNvSpPr/>
          <p:nvPr/>
        </p:nvSpPr>
        <p:spPr>
          <a:xfrm>
            <a:off x="4937760" y="202068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1"/>
          <p:cNvSpPr/>
          <p:nvPr/>
        </p:nvSpPr>
        <p:spPr>
          <a:xfrm>
            <a:off x="3291840" y="228600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52"/>
          <p:cNvSpPr/>
          <p:nvPr/>
        </p:nvSpPr>
        <p:spPr>
          <a:xfrm>
            <a:off x="3291840" y="23133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53"/>
          <p:cNvSpPr/>
          <p:nvPr/>
        </p:nvSpPr>
        <p:spPr>
          <a:xfrm>
            <a:off x="4114800" y="228600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4"/>
          <p:cNvSpPr/>
          <p:nvPr/>
        </p:nvSpPr>
        <p:spPr>
          <a:xfrm>
            <a:off x="4114800" y="23133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55"/>
          <p:cNvSpPr/>
          <p:nvPr/>
        </p:nvSpPr>
        <p:spPr>
          <a:xfrm>
            <a:off x="4937760" y="228600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56"/>
          <p:cNvSpPr/>
          <p:nvPr/>
        </p:nvSpPr>
        <p:spPr>
          <a:xfrm>
            <a:off x="4937760" y="23133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57"/>
          <p:cNvSpPr/>
          <p:nvPr/>
        </p:nvSpPr>
        <p:spPr>
          <a:xfrm>
            <a:off x="3291840" y="2834640"/>
            <a:ext cx="2467800" cy="364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58"/>
          <p:cNvSpPr/>
          <p:nvPr/>
        </p:nvSpPr>
        <p:spPr>
          <a:xfrm>
            <a:off x="3291840" y="2871360"/>
            <a:ext cx="2467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59"/>
          <p:cNvSpPr/>
          <p:nvPr/>
        </p:nvSpPr>
        <p:spPr>
          <a:xfrm>
            <a:off x="3291840" y="320040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60"/>
          <p:cNvSpPr/>
          <p:nvPr/>
        </p:nvSpPr>
        <p:spPr>
          <a:xfrm>
            <a:off x="3291840" y="323712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Accidente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61"/>
          <p:cNvSpPr/>
          <p:nvPr/>
        </p:nvSpPr>
        <p:spPr>
          <a:xfrm>
            <a:off x="4114800" y="320040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2"/>
          <p:cNvSpPr/>
          <p:nvPr/>
        </p:nvSpPr>
        <p:spPr>
          <a:xfrm>
            <a:off x="4114800" y="323712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Víctima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63"/>
          <p:cNvSpPr/>
          <p:nvPr/>
        </p:nvSpPr>
        <p:spPr>
          <a:xfrm>
            <a:off x="4937760" y="320040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4"/>
          <p:cNvSpPr/>
          <p:nvPr/>
        </p:nvSpPr>
        <p:spPr>
          <a:xfrm>
            <a:off x="4937760" y="323712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Vehículo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65"/>
          <p:cNvSpPr/>
          <p:nvPr/>
        </p:nvSpPr>
        <p:spPr>
          <a:xfrm>
            <a:off x="3291840" y="354780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66"/>
          <p:cNvSpPr/>
          <p:nvPr/>
        </p:nvSpPr>
        <p:spPr>
          <a:xfrm>
            <a:off x="3291840" y="35751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67"/>
          <p:cNvSpPr/>
          <p:nvPr/>
        </p:nvSpPr>
        <p:spPr>
          <a:xfrm>
            <a:off x="4114800" y="354780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8"/>
          <p:cNvSpPr/>
          <p:nvPr/>
        </p:nvSpPr>
        <p:spPr>
          <a:xfrm>
            <a:off x="4114800" y="35751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9"/>
          <p:cNvSpPr/>
          <p:nvPr/>
        </p:nvSpPr>
        <p:spPr>
          <a:xfrm>
            <a:off x="4937760" y="354780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0"/>
          <p:cNvSpPr/>
          <p:nvPr/>
        </p:nvSpPr>
        <p:spPr>
          <a:xfrm>
            <a:off x="4937760" y="35751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71"/>
          <p:cNvSpPr/>
          <p:nvPr/>
        </p:nvSpPr>
        <p:spPr>
          <a:xfrm>
            <a:off x="3291840" y="384048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2"/>
          <p:cNvSpPr/>
          <p:nvPr/>
        </p:nvSpPr>
        <p:spPr>
          <a:xfrm>
            <a:off x="3291840" y="386784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73"/>
          <p:cNvSpPr/>
          <p:nvPr/>
        </p:nvSpPr>
        <p:spPr>
          <a:xfrm>
            <a:off x="4114800" y="384048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4"/>
          <p:cNvSpPr/>
          <p:nvPr/>
        </p:nvSpPr>
        <p:spPr>
          <a:xfrm>
            <a:off x="4114800" y="386784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75"/>
          <p:cNvSpPr/>
          <p:nvPr/>
        </p:nvSpPr>
        <p:spPr>
          <a:xfrm>
            <a:off x="4937760" y="384048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6"/>
          <p:cNvSpPr/>
          <p:nvPr/>
        </p:nvSpPr>
        <p:spPr>
          <a:xfrm>
            <a:off x="4937760" y="386784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7"/>
          <p:cNvSpPr/>
          <p:nvPr/>
        </p:nvSpPr>
        <p:spPr>
          <a:xfrm>
            <a:off x="6263640" y="914400"/>
            <a:ext cx="265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7AE60"/>
                </a:solidFill>
                <a:effectLst/>
                <a:uFillTx/>
                <a:latin typeface="Calibri"/>
                <a:ea typeface="Calibri"/>
              </a:rPr>
              <a:t>Con split en grupos ✓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8"/>
          <p:cNvSpPr/>
          <p:nvPr/>
        </p:nvSpPr>
        <p:spPr>
          <a:xfrm>
            <a:off x="6263640" y="1280160"/>
            <a:ext cx="2467800" cy="364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79"/>
          <p:cNvSpPr/>
          <p:nvPr/>
        </p:nvSpPr>
        <p:spPr>
          <a:xfrm>
            <a:off x="6263640" y="1316880"/>
            <a:ext cx="2467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Train (acc. 1 completo)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80"/>
          <p:cNvSpPr/>
          <p:nvPr/>
        </p:nvSpPr>
        <p:spPr>
          <a:xfrm>
            <a:off x="6263640" y="164592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1"/>
          <p:cNvSpPr/>
          <p:nvPr/>
        </p:nvSpPr>
        <p:spPr>
          <a:xfrm>
            <a:off x="6263640" y="168264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Accidente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82"/>
          <p:cNvSpPr/>
          <p:nvPr/>
        </p:nvSpPr>
        <p:spPr>
          <a:xfrm>
            <a:off x="7086600" y="164592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3"/>
          <p:cNvSpPr/>
          <p:nvPr/>
        </p:nvSpPr>
        <p:spPr>
          <a:xfrm>
            <a:off x="7086600" y="168264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Víctima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84"/>
          <p:cNvSpPr/>
          <p:nvPr/>
        </p:nvSpPr>
        <p:spPr>
          <a:xfrm>
            <a:off x="7909560" y="164592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85"/>
          <p:cNvSpPr/>
          <p:nvPr/>
        </p:nvSpPr>
        <p:spPr>
          <a:xfrm>
            <a:off x="7909560" y="168264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Vehículo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86"/>
          <p:cNvSpPr/>
          <p:nvPr/>
        </p:nvSpPr>
        <p:spPr>
          <a:xfrm>
            <a:off x="6263640" y="199332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7"/>
          <p:cNvSpPr/>
          <p:nvPr/>
        </p:nvSpPr>
        <p:spPr>
          <a:xfrm>
            <a:off x="6263640" y="202068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88"/>
          <p:cNvSpPr/>
          <p:nvPr/>
        </p:nvSpPr>
        <p:spPr>
          <a:xfrm>
            <a:off x="7086600" y="199332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9"/>
          <p:cNvSpPr/>
          <p:nvPr/>
        </p:nvSpPr>
        <p:spPr>
          <a:xfrm>
            <a:off x="7086600" y="202068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90"/>
          <p:cNvSpPr/>
          <p:nvPr/>
        </p:nvSpPr>
        <p:spPr>
          <a:xfrm>
            <a:off x="7909560" y="199332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91"/>
          <p:cNvSpPr/>
          <p:nvPr/>
        </p:nvSpPr>
        <p:spPr>
          <a:xfrm>
            <a:off x="7909560" y="202068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92"/>
          <p:cNvSpPr/>
          <p:nvPr/>
        </p:nvSpPr>
        <p:spPr>
          <a:xfrm>
            <a:off x="6263640" y="228600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93"/>
          <p:cNvSpPr/>
          <p:nvPr/>
        </p:nvSpPr>
        <p:spPr>
          <a:xfrm>
            <a:off x="6263640" y="23133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4"/>
          <p:cNvSpPr/>
          <p:nvPr/>
        </p:nvSpPr>
        <p:spPr>
          <a:xfrm>
            <a:off x="7086600" y="228600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95"/>
          <p:cNvSpPr/>
          <p:nvPr/>
        </p:nvSpPr>
        <p:spPr>
          <a:xfrm>
            <a:off x="7086600" y="23133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96"/>
          <p:cNvSpPr/>
          <p:nvPr/>
        </p:nvSpPr>
        <p:spPr>
          <a:xfrm>
            <a:off x="7909560" y="228600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7"/>
          <p:cNvSpPr/>
          <p:nvPr/>
        </p:nvSpPr>
        <p:spPr>
          <a:xfrm>
            <a:off x="7909560" y="23133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98"/>
          <p:cNvSpPr/>
          <p:nvPr/>
        </p:nvSpPr>
        <p:spPr>
          <a:xfrm>
            <a:off x="6263640" y="2834640"/>
            <a:ext cx="2467800" cy="364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99"/>
          <p:cNvSpPr/>
          <p:nvPr/>
        </p:nvSpPr>
        <p:spPr>
          <a:xfrm>
            <a:off x="6263640" y="2871360"/>
            <a:ext cx="2467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 (acc. 2 completo)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00"/>
          <p:cNvSpPr/>
          <p:nvPr/>
        </p:nvSpPr>
        <p:spPr>
          <a:xfrm>
            <a:off x="6263640" y="320040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01"/>
          <p:cNvSpPr/>
          <p:nvPr/>
        </p:nvSpPr>
        <p:spPr>
          <a:xfrm>
            <a:off x="6263640" y="323712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Accidente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02"/>
          <p:cNvSpPr/>
          <p:nvPr/>
        </p:nvSpPr>
        <p:spPr>
          <a:xfrm>
            <a:off x="7086600" y="320040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03"/>
          <p:cNvSpPr/>
          <p:nvPr/>
        </p:nvSpPr>
        <p:spPr>
          <a:xfrm>
            <a:off x="7086600" y="323712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Víctima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04"/>
          <p:cNvSpPr/>
          <p:nvPr/>
        </p:nvSpPr>
        <p:spPr>
          <a:xfrm>
            <a:off x="7909560" y="3200400"/>
            <a:ext cx="821880" cy="346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05"/>
          <p:cNvSpPr/>
          <p:nvPr/>
        </p:nvSpPr>
        <p:spPr>
          <a:xfrm>
            <a:off x="7909560" y="323712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Vehículo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06"/>
          <p:cNvSpPr/>
          <p:nvPr/>
        </p:nvSpPr>
        <p:spPr>
          <a:xfrm>
            <a:off x="6263640" y="354780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07"/>
          <p:cNvSpPr/>
          <p:nvPr/>
        </p:nvSpPr>
        <p:spPr>
          <a:xfrm>
            <a:off x="6263640" y="35751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08"/>
          <p:cNvSpPr/>
          <p:nvPr/>
        </p:nvSpPr>
        <p:spPr>
          <a:xfrm>
            <a:off x="7086600" y="354780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09"/>
          <p:cNvSpPr/>
          <p:nvPr/>
        </p:nvSpPr>
        <p:spPr>
          <a:xfrm>
            <a:off x="7086600" y="35751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10"/>
          <p:cNvSpPr/>
          <p:nvPr/>
        </p:nvSpPr>
        <p:spPr>
          <a:xfrm>
            <a:off x="7909560" y="3547800"/>
            <a:ext cx="821880" cy="29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11"/>
          <p:cNvSpPr/>
          <p:nvPr/>
        </p:nvSpPr>
        <p:spPr>
          <a:xfrm>
            <a:off x="7909560" y="357516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12"/>
          <p:cNvSpPr/>
          <p:nvPr/>
        </p:nvSpPr>
        <p:spPr>
          <a:xfrm>
            <a:off x="6263640" y="384048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13"/>
          <p:cNvSpPr/>
          <p:nvPr/>
        </p:nvSpPr>
        <p:spPr>
          <a:xfrm>
            <a:off x="6263640" y="386784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14"/>
          <p:cNvSpPr/>
          <p:nvPr/>
        </p:nvSpPr>
        <p:spPr>
          <a:xfrm>
            <a:off x="7086600" y="384048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15"/>
          <p:cNvSpPr/>
          <p:nvPr/>
        </p:nvSpPr>
        <p:spPr>
          <a:xfrm>
            <a:off x="7086600" y="386784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16"/>
          <p:cNvSpPr/>
          <p:nvPr/>
        </p:nvSpPr>
        <p:spPr>
          <a:xfrm>
            <a:off x="7909560" y="3840480"/>
            <a:ext cx="821880" cy="29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17"/>
          <p:cNvSpPr/>
          <p:nvPr/>
        </p:nvSpPr>
        <p:spPr>
          <a:xfrm>
            <a:off x="7909560" y="3867840"/>
            <a:ext cx="82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18"/>
          <p:cNvSpPr/>
          <p:nvPr/>
        </p:nvSpPr>
        <p:spPr>
          <a:xfrm>
            <a:off x="3291840" y="4343400"/>
            <a:ext cx="2650680" cy="547560"/>
          </a:xfrm>
          <a:prstGeom prst="rect">
            <a:avLst/>
          </a:prstGeom>
          <a:solidFill>
            <a:srgbClr val="FEE2E2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19"/>
          <p:cNvSpPr/>
          <p:nvPr/>
        </p:nvSpPr>
        <p:spPr>
          <a:xfrm>
            <a:off x="3383280" y="4389120"/>
            <a:ext cx="2467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Accidentes divididos entre train y test → fuga de datos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20"/>
          <p:cNvSpPr/>
          <p:nvPr/>
        </p:nvSpPr>
        <p:spPr>
          <a:xfrm>
            <a:off x="6263640" y="4343400"/>
            <a:ext cx="2650680" cy="547560"/>
          </a:xfrm>
          <a:prstGeom prst="rect">
            <a:avLst/>
          </a:prstGeom>
          <a:solidFill>
            <a:srgbClr val="DCFCE7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21"/>
          <p:cNvSpPr/>
          <p:nvPr/>
        </p:nvSpPr>
        <p:spPr>
          <a:xfrm>
            <a:off x="6355080" y="4389120"/>
            <a:ext cx="2467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7AE60"/>
                </a:solidFill>
                <a:effectLst/>
                <a:uFillTx/>
                <a:latin typeface="Calibri"/>
                <a:ea typeface="Calibri"/>
              </a:rPr>
              <a:t>Cada accidente queda íntegro en un único conjunto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"/>
          <p:cNvSpPr/>
          <p:nvPr/>
        </p:nvSpPr>
        <p:spPr>
          <a:xfrm>
            <a:off x="0" y="2103120"/>
            <a:ext cx="9142920" cy="720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900360" y="646200"/>
            <a:ext cx="73141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pc="7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SELECCIÓN</a:t>
            </a:r>
            <a:endParaRPr lang="es-E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"/>
          <p:cNvSpPr/>
          <p:nvPr/>
        </p:nvSpPr>
        <p:spPr>
          <a:xfrm>
            <a:off x="965160" y="1280520"/>
            <a:ext cx="73141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pc="799" strike="noStrike">
                <a:solidFill>
                  <a:srgbClr val="E8500A"/>
                </a:solidFill>
                <a:effectLst/>
                <a:uFillTx/>
                <a:latin typeface="Calibri"/>
                <a:ea typeface="Calibri"/>
              </a:rPr>
              <a:t>DEL MODELO</a:t>
            </a:r>
            <a:endParaRPr lang="es-E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4"/>
          <p:cNvSpPr/>
          <p:nvPr/>
        </p:nvSpPr>
        <p:spPr>
          <a:xfrm>
            <a:off x="914400" y="2377440"/>
            <a:ext cx="7314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A8C4E0"/>
                </a:solidFill>
                <a:effectLst/>
                <a:uFillTx/>
                <a:latin typeface="Calibri"/>
                <a:ea typeface="Calibri"/>
              </a:rPr>
              <a:t>CatBoost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1" name="Image 0" descr="preencoded.png"/>
          <p:cNvPicPr/>
          <p:nvPr/>
        </p:nvPicPr>
        <p:blipFill>
          <a:blip r:embed="rId1"/>
          <a:stretch/>
        </p:blipFill>
        <p:spPr>
          <a:xfrm>
            <a:off x="4114800" y="3108960"/>
            <a:ext cx="913320" cy="91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0"/>
          <p:cNvSpPr/>
          <p:nvPr/>
        </p:nvSpPr>
        <p:spPr>
          <a:xfrm>
            <a:off x="0" y="0"/>
            <a:ext cx="9142920" cy="7761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"/>
          <p:cNvSpPr/>
          <p:nvPr/>
        </p:nvSpPr>
        <p:spPr>
          <a:xfrm>
            <a:off x="457200" y="1098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CatBoost Classifier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"/>
          <p:cNvSpPr/>
          <p:nvPr/>
        </p:nvSpPr>
        <p:spPr>
          <a:xfrm>
            <a:off x="365760" y="914400"/>
            <a:ext cx="8411400" cy="412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"/>
          <p:cNvSpPr/>
          <p:nvPr/>
        </p:nvSpPr>
        <p:spPr>
          <a:xfrm>
            <a:off x="548640" y="1051560"/>
            <a:ext cx="4113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¿Por qué CatBoost?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"/>
          <p:cNvSpPr/>
          <p:nvPr/>
        </p:nvSpPr>
        <p:spPr>
          <a:xfrm>
            <a:off x="548640" y="1481400"/>
            <a:ext cx="3839400" cy="35640"/>
          </a:xfrm>
          <a:prstGeom prst="rect">
            <a:avLst/>
          </a:prstGeom>
          <a:solidFill>
            <a:srgbClr val="2E73C2"/>
          </a:solidFill>
          <a:ln w="12700">
            <a:solidFill>
              <a:srgbClr val="2E73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5"/>
          <p:cNvSpPr/>
          <p:nvPr/>
        </p:nvSpPr>
        <p:spPr>
          <a:xfrm>
            <a:off x="548640" y="1600200"/>
            <a:ext cx="254880" cy="25488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914400" y="157284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Manejo nativo de variables categóricas sin encoding manual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548640" y="2286000"/>
            <a:ext cx="254880" cy="25488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8"/>
          <p:cNvSpPr/>
          <p:nvPr/>
        </p:nvSpPr>
        <p:spPr>
          <a:xfrm>
            <a:off x="914400" y="225864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Robusto frente a valores desconocidos y datos ruidosos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9"/>
          <p:cNvSpPr/>
          <p:nvPr/>
        </p:nvSpPr>
        <p:spPr>
          <a:xfrm>
            <a:off x="548640" y="2971800"/>
            <a:ext cx="254880" cy="25488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0"/>
          <p:cNvSpPr/>
          <p:nvPr/>
        </p:nvSpPr>
        <p:spPr>
          <a:xfrm>
            <a:off x="914400" y="294444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Gradient boosting optimizado: menor overfitting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1"/>
          <p:cNvSpPr/>
          <p:nvPr/>
        </p:nvSpPr>
        <p:spPr>
          <a:xfrm>
            <a:off x="548640" y="3657600"/>
            <a:ext cx="254880" cy="25488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2"/>
          <p:cNvSpPr/>
          <p:nvPr/>
        </p:nvSpPr>
        <p:spPr>
          <a:xfrm>
            <a:off x="914400" y="3630240"/>
            <a:ext cx="3473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Alta precisión en conjuntos de datos tabulares complejos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3"/>
          <p:cNvSpPr/>
          <p:nvPr/>
        </p:nvSpPr>
        <p:spPr>
          <a:xfrm>
            <a:off x="4626720" y="1260000"/>
            <a:ext cx="35640" cy="3565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4"/>
          <p:cNvSpPr/>
          <p:nvPr/>
        </p:nvSpPr>
        <p:spPr>
          <a:xfrm>
            <a:off x="4846320" y="1051560"/>
            <a:ext cx="374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Características clave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5"/>
          <p:cNvSpPr/>
          <p:nvPr/>
        </p:nvSpPr>
        <p:spPr>
          <a:xfrm>
            <a:off x="4846320" y="1481400"/>
            <a:ext cx="3656520" cy="3564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6"/>
          <p:cNvSpPr/>
          <p:nvPr/>
        </p:nvSpPr>
        <p:spPr>
          <a:xfrm>
            <a:off x="4846320" y="1645920"/>
            <a:ext cx="3656520" cy="54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7"/>
          <p:cNvSpPr/>
          <p:nvPr/>
        </p:nvSpPr>
        <p:spPr>
          <a:xfrm>
            <a:off x="4937760" y="173736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Tipo: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8"/>
          <p:cNvSpPr/>
          <p:nvPr/>
        </p:nvSpPr>
        <p:spPr>
          <a:xfrm>
            <a:off x="6400800" y="173736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Gradient Boosting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9"/>
          <p:cNvSpPr/>
          <p:nvPr/>
        </p:nvSpPr>
        <p:spPr>
          <a:xfrm>
            <a:off x="4846320" y="2304360"/>
            <a:ext cx="3656520" cy="54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0"/>
          <p:cNvSpPr/>
          <p:nvPr/>
        </p:nvSpPr>
        <p:spPr>
          <a:xfrm>
            <a:off x="4937760" y="239580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Tarea: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1"/>
          <p:cNvSpPr/>
          <p:nvPr/>
        </p:nvSpPr>
        <p:spPr>
          <a:xfrm>
            <a:off x="6400800" y="239580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Clasificación binaria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2"/>
          <p:cNvSpPr/>
          <p:nvPr/>
        </p:nvSpPr>
        <p:spPr>
          <a:xfrm>
            <a:off x="4846320" y="2962800"/>
            <a:ext cx="3656520" cy="54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3"/>
          <p:cNvSpPr/>
          <p:nvPr/>
        </p:nvSpPr>
        <p:spPr>
          <a:xfrm>
            <a:off x="4937760" y="305424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Optimización: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4"/>
          <p:cNvSpPr/>
          <p:nvPr/>
        </p:nvSpPr>
        <p:spPr>
          <a:xfrm>
            <a:off x="6400800" y="305424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Búsqueda de hiperparámetros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5"/>
          <p:cNvSpPr/>
          <p:nvPr/>
        </p:nvSpPr>
        <p:spPr>
          <a:xfrm>
            <a:off x="4846320" y="3620880"/>
            <a:ext cx="3656520" cy="54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6"/>
          <p:cNvSpPr/>
          <p:nvPr/>
        </p:nvSpPr>
        <p:spPr>
          <a:xfrm>
            <a:off x="4937760" y="371232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Eval. metric: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7"/>
          <p:cNvSpPr/>
          <p:nvPr/>
        </p:nvSpPr>
        <p:spPr>
          <a:xfrm>
            <a:off x="6400800" y="371232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AUC-ROC / Recall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8"/>
          <p:cNvSpPr/>
          <p:nvPr/>
        </p:nvSpPr>
        <p:spPr>
          <a:xfrm>
            <a:off x="4846320" y="4279320"/>
            <a:ext cx="3656520" cy="54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9"/>
          <p:cNvSpPr/>
          <p:nvPr/>
        </p:nvSpPr>
        <p:spPr>
          <a:xfrm>
            <a:off x="4937760" y="4370760"/>
            <a:ext cx="146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Validación: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0"/>
          <p:cNvSpPr/>
          <p:nvPr/>
        </p:nvSpPr>
        <p:spPr>
          <a:xfrm>
            <a:off x="6400800" y="437076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Eval set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0" descr="preencoded.png"/>
          <p:cNvPicPr/>
          <p:nvPr/>
        </p:nvPicPr>
        <p:blipFill>
          <a:blip r:embed="rId1"/>
          <a:stretch/>
        </p:blipFill>
        <p:spPr>
          <a:xfrm>
            <a:off x="8229600" y="91440"/>
            <a:ext cx="547560" cy="54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4D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36360" y="-180000"/>
            <a:ext cx="9143640" cy="51433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"/>
          <p:cNvSpPr/>
          <p:nvPr/>
        </p:nvSpPr>
        <p:spPr>
          <a:xfrm>
            <a:off x="0" y="2148840"/>
            <a:ext cx="9143640" cy="7272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965160" y="56016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pc="7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SELECCIÓN DE</a:t>
            </a:r>
            <a:endParaRPr lang="es-E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965160" y="133740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pc="799" strike="noStrike">
                <a:solidFill>
                  <a:srgbClr val="E8500A"/>
                </a:solidFill>
                <a:effectLst/>
                <a:uFillTx/>
                <a:latin typeface="Calibri"/>
                <a:ea typeface="Calibri"/>
              </a:rPr>
              <a:t>VARIABLES</a:t>
            </a:r>
            <a:endParaRPr lang="es-E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"/>
          <p:cNvSpPr/>
          <p:nvPr/>
        </p:nvSpPr>
        <p:spPr>
          <a:xfrm>
            <a:off x="914400" y="24231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8C4E0"/>
                </a:solidFill>
                <a:effectLst/>
                <a:uFillTx/>
                <a:latin typeface="Calibri"/>
                <a:ea typeface="Calibri"/>
              </a:rPr>
              <a:t>Feature Importance · Permutation Importance · Selección iterativa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9" name="Image 0" descr="preencoded.png"/>
          <p:cNvPicPr/>
          <p:nvPr/>
        </p:nvPicPr>
        <p:blipFill>
          <a:blip r:embed="rId1"/>
          <a:stretch/>
        </p:blipFill>
        <p:spPr>
          <a:xfrm>
            <a:off x="4114800" y="3154680"/>
            <a:ext cx="91404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45720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Técnicas utilizadas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"/>
          <p:cNvSpPr/>
          <p:nvPr/>
        </p:nvSpPr>
        <p:spPr>
          <a:xfrm>
            <a:off x="365760" y="960120"/>
            <a:ext cx="841212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"/>
          <p:cNvSpPr/>
          <p:nvPr/>
        </p:nvSpPr>
        <p:spPr>
          <a:xfrm>
            <a:off x="365760" y="960120"/>
            <a:ext cx="63720" cy="11426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4" name="Image 0" descr="preencoded.png"/>
          <p:cNvPicPr/>
          <p:nvPr/>
        </p:nvPicPr>
        <p:blipFill>
          <a:blip r:embed="rId1"/>
          <a:stretch/>
        </p:blipFill>
        <p:spPr>
          <a:xfrm>
            <a:off x="548640" y="12618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Text 4"/>
          <p:cNvSpPr/>
          <p:nvPr/>
        </p:nvSpPr>
        <p:spPr>
          <a:xfrm>
            <a:off x="1188720" y="1051560"/>
            <a:ext cx="7406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Feature Importance (CatBoost)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5"/>
          <p:cNvSpPr/>
          <p:nvPr/>
        </p:nvSpPr>
        <p:spPr>
          <a:xfrm>
            <a:off x="1188720" y="143568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Importancia nativa calculada por el modelo durante el entrenamiento. Mide cuánto contribuye cada variable a las predicciones según el gradiente boosting.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6"/>
          <p:cNvSpPr/>
          <p:nvPr/>
        </p:nvSpPr>
        <p:spPr>
          <a:xfrm>
            <a:off x="365760" y="2286000"/>
            <a:ext cx="841212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7"/>
          <p:cNvSpPr/>
          <p:nvPr/>
        </p:nvSpPr>
        <p:spPr>
          <a:xfrm>
            <a:off x="365760" y="2286000"/>
            <a:ext cx="63720" cy="1142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9" name="Image 1" descr="preencoded.png"/>
          <p:cNvPicPr/>
          <p:nvPr/>
        </p:nvPicPr>
        <p:blipFill>
          <a:blip r:embed="rId2"/>
          <a:stretch/>
        </p:blipFill>
        <p:spPr>
          <a:xfrm>
            <a:off x="548640" y="258768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Text 8"/>
          <p:cNvSpPr/>
          <p:nvPr/>
        </p:nvSpPr>
        <p:spPr>
          <a:xfrm>
            <a:off x="1188720" y="2377440"/>
            <a:ext cx="7406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Permutation Importance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1188720" y="276156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Técnica agnóstica al modelo: permuta aleatoriamente una variable y mide la caída en rendimiento. Más robusta frente a correlaciones entre features.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0"/>
          <p:cNvSpPr/>
          <p:nvPr/>
        </p:nvSpPr>
        <p:spPr>
          <a:xfrm>
            <a:off x="365760" y="3611880"/>
            <a:ext cx="841212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1"/>
          <p:cNvSpPr/>
          <p:nvPr/>
        </p:nvSpPr>
        <p:spPr>
          <a:xfrm>
            <a:off x="365760" y="3611880"/>
            <a:ext cx="63720" cy="114264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 2" descr="preencoded.png"/>
          <p:cNvPicPr/>
          <p:nvPr/>
        </p:nvPicPr>
        <p:blipFill>
          <a:blip r:embed="rId3"/>
          <a:stretch/>
        </p:blipFill>
        <p:spPr>
          <a:xfrm>
            <a:off x="548640" y="39135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12"/>
          <p:cNvSpPr/>
          <p:nvPr/>
        </p:nvSpPr>
        <p:spPr>
          <a:xfrm>
            <a:off x="1188720" y="3703320"/>
            <a:ext cx="7406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Selección iterativa manual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3"/>
          <p:cNvSpPr/>
          <p:nvPr/>
        </p:nvSpPr>
        <p:spPr>
          <a:xfrm>
            <a:off x="1188720" y="408744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 cada iteración se comparan ambas métricas de importancia y se eliminan las variables menos relevantes, reentrenando el modelo hasta convergencia.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45720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Variables más importantes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320040" y="914400"/>
            <a:ext cx="4160160" cy="397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"/>
          <p:cNvSpPr/>
          <p:nvPr/>
        </p:nvSpPr>
        <p:spPr>
          <a:xfrm>
            <a:off x="320040" y="914400"/>
            <a:ext cx="4160160" cy="5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"/>
          <p:cNvSpPr/>
          <p:nvPr/>
        </p:nvSpPr>
        <p:spPr>
          <a:xfrm>
            <a:off x="411480" y="9874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Permutation Importance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Image 0" descr="preencoded.png"/>
          <p:cNvPicPr/>
          <p:nvPr/>
        </p:nvPicPr>
        <p:blipFill>
          <a:blip r:embed="rId1"/>
          <a:stretch/>
        </p:blipFill>
        <p:spPr>
          <a:xfrm>
            <a:off x="365760" y="1371600"/>
            <a:ext cx="4068720" cy="330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Shape 5"/>
          <p:cNvSpPr/>
          <p:nvPr/>
        </p:nvSpPr>
        <p:spPr>
          <a:xfrm>
            <a:off x="4663440" y="914400"/>
            <a:ext cx="4160160" cy="397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6"/>
          <p:cNvSpPr/>
          <p:nvPr/>
        </p:nvSpPr>
        <p:spPr>
          <a:xfrm>
            <a:off x="4663440" y="914400"/>
            <a:ext cx="4160160" cy="543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7"/>
          <p:cNvSpPr/>
          <p:nvPr/>
        </p:nvSpPr>
        <p:spPr>
          <a:xfrm>
            <a:off x="4754880" y="9874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Feature Importance (Model)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6" name="Image 1" descr="preencoded.png"/>
          <p:cNvPicPr/>
          <p:nvPr/>
        </p:nvPicPr>
        <p:blipFill>
          <a:blip r:embed="rId2"/>
          <a:stretch/>
        </p:blipFill>
        <p:spPr>
          <a:xfrm>
            <a:off x="4709160" y="1371600"/>
            <a:ext cx="4068720" cy="333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0" y="2148840"/>
            <a:ext cx="9143640" cy="7272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"/>
          <p:cNvSpPr/>
          <p:nvPr/>
        </p:nvSpPr>
        <p:spPr>
          <a:xfrm>
            <a:off x="457200" y="5490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6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ENTRENAMIENTO Y</a:t>
            </a:r>
            <a:endParaRPr lang="es-E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"/>
          <p:cNvSpPr/>
          <p:nvPr/>
        </p:nvSpPr>
        <p:spPr>
          <a:xfrm>
            <a:off x="457200" y="13262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601" strike="noStrike">
                <a:solidFill>
                  <a:srgbClr val="E8500A"/>
                </a:solidFill>
                <a:effectLst/>
                <a:uFillTx/>
                <a:latin typeface="Calibri"/>
                <a:ea typeface="Calibri"/>
              </a:rPr>
              <a:t>EVALUACIÓN FINAL</a:t>
            </a:r>
            <a:endParaRPr lang="es-E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"/>
          <p:cNvSpPr/>
          <p:nvPr/>
        </p:nvSpPr>
        <p:spPr>
          <a:xfrm>
            <a:off x="914400" y="24231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8C4E0"/>
                </a:solidFill>
                <a:effectLst/>
                <a:uFillTx/>
                <a:latin typeface="Calibri"/>
                <a:ea typeface="Calibri"/>
              </a:rPr>
              <a:t>Optimización · Resultados · Ajuste de umbral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2" name="Image 0" descr="preencoded.png"/>
          <p:cNvPicPr/>
          <p:nvPr/>
        </p:nvPicPr>
        <p:blipFill>
          <a:blip r:embed="rId1"/>
          <a:stretch/>
        </p:blipFill>
        <p:spPr>
          <a:xfrm>
            <a:off x="4114800" y="3154680"/>
            <a:ext cx="91404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"/>
          <p:cNvSpPr/>
          <p:nvPr/>
        </p:nvSpPr>
        <p:spPr>
          <a:xfrm>
            <a:off x="45720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Optimización de hiperparámetros con Optuna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"/>
          <p:cNvSpPr/>
          <p:nvPr/>
        </p:nvSpPr>
        <p:spPr>
          <a:xfrm>
            <a:off x="365760" y="960120"/>
            <a:ext cx="8412120" cy="685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6" name="Image 0" descr="preencoded.png"/>
          <p:cNvPicPr/>
          <p:nvPr/>
        </p:nvPicPr>
        <p:blipFill>
          <a:blip r:embed="rId1"/>
          <a:stretch/>
        </p:blipFill>
        <p:spPr>
          <a:xfrm>
            <a:off x="502920" y="1051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Text 3"/>
          <p:cNvSpPr/>
          <p:nvPr/>
        </p:nvSpPr>
        <p:spPr>
          <a:xfrm>
            <a:off x="1097280" y="106992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Optuna realiza búsqueda bayesiana de hiperparámetros minimizando el error de validación cruzada grupal (GroupKFold).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4"/>
          <p:cNvSpPr/>
          <p:nvPr/>
        </p:nvSpPr>
        <p:spPr>
          <a:xfrm>
            <a:off x="365760" y="1874520"/>
            <a:ext cx="41144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5"/>
          <p:cNvSpPr/>
          <p:nvPr/>
        </p:nvSpPr>
        <p:spPr>
          <a:xfrm>
            <a:off x="365760" y="1874520"/>
            <a:ext cx="63720" cy="8226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6"/>
          <p:cNvSpPr/>
          <p:nvPr/>
        </p:nvSpPr>
        <p:spPr>
          <a:xfrm>
            <a:off x="530280" y="1938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learning_rate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7"/>
          <p:cNvSpPr/>
          <p:nvPr/>
        </p:nvSpPr>
        <p:spPr>
          <a:xfrm>
            <a:off x="530280" y="227700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Tasa de aprendizaje del boosting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8"/>
          <p:cNvSpPr/>
          <p:nvPr/>
        </p:nvSpPr>
        <p:spPr>
          <a:xfrm>
            <a:off x="3246120" y="2057400"/>
            <a:ext cx="1051200" cy="411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9"/>
          <p:cNvSpPr/>
          <p:nvPr/>
        </p:nvSpPr>
        <p:spPr>
          <a:xfrm>
            <a:off x="3246120" y="207576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0.01 – 0.3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0"/>
          <p:cNvSpPr/>
          <p:nvPr/>
        </p:nvSpPr>
        <p:spPr>
          <a:xfrm>
            <a:off x="365760" y="2880360"/>
            <a:ext cx="41144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1"/>
          <p:cNvSpPr/>
          <p:nvPr/>
        </p:nvSpPr>
        <p:spPr>
          <a:xfrm>
            <a:off x="365760" y="2880360"/>
            <a:ext cx="63720" cy="822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2"/>
          <p:cNvSpPr/>
          <p:nvPr/>
        </p:nvSpPr>
        <p:spPr>
          <a:xfrm>
            <a:off x="530280" y="2944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depth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3"/>
          <p:cNvSpPr/>
          <p:nvPr/>
        </p:nvSpPr>
        <p:spPr>
          <a:xfrm>
            <a:off x="530280" y="32828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Profundidad máxima de los árboles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4"/>
          <p:cNvSpPr/>
          <p:nvPr/>
        </p:nvSpPr>
        <p:spPr>
          <a:xfrm>
            <a:off x="3246120" y="3063240"/>
            <a:ext cx="1051200" cy="411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5"/>
          <p:cNvSpPr/>
          <p:nvPr/>
        </p:nvSpPr>
        <p:spPr>
          <a:xfrm>
            <a:off x="3246120" y="30816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 – 10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6"/>
          <p:cNvSpPr/>
          <p:nvPr/>
        </p:nvSpPr>
        <p:spPr>
          <a:xfrm>
            <a:off x="365760" y="3886200"/>
            <a:ext cx="41144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7"/>
          <p:cNvSpPr/>
          <p:nvPr/>
        </p:nvSpPr>
        <p:spPr>
          <a:xfrm>
            <a:off x="365760" y="3886200"/>
            <a:ext cx="63720" cy="82260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8"/>
          <p:cNvSpPr/>
          <p:nvPr/>
        </p:nvSpPr>
        <p:spPr>
          <a:xfrm>
            <a:off x="530280" y="39502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bagging_temperature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9"/>
          <p:cNvSpPr/>
          <p:nvPr/>
        </p:nvSpPr>
        <p:spPr>
          <a:xfrm>
            <a:off x="530280" y="428868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Aleatoriedad en el muestreo de filas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20"/>
          <p:cNvSpPr/>
          <p:nvPr/>
        </p:nvSpPr>
        <p:spPr>
          <a:xfrm>
            <a:off x="3246120" y="4069080"/>
            <a:ext cx="1051200" cy="41112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1"/>
          <p:cNvSpPr/>
          <p:nvPr/>
        </p:nvSpPr>
        <p:spPr>
          <a:xfrm>
            <a:off x="3246120" y="40874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 – 1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2"/>
          <p:cNvSpPr/>
          <p:nvPr/>
        </p:nvSpPr>
        <p:spPr>
          <a:xfrm>
            <a:off x="4800600" y="1874520"/>
            <a:ext cx="41144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23"/>
          <p:cNvSpPr/>
          <p:nvPr/>
        </p:nvSpPr>
        <p:spPr>
          <a:xfrm>
            <a:off x="4800600" y="1874520"/>
            <a:ext cx="63720" cy="8226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4"/>
          <p:cNvSpPr/>
          <p:nvPr/>
        </p:nvSpPr>
        <p:spPr>
          <a:xfrm>
            <a:off x="4965120" y="1938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random_strength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5"/>
          <p:cNvSpPr/>
          <p:nvPr/>
        </p:nvSpPr>
        <p:spPr>
          <a:xfrm>
            <a:off x="4965120" y="227700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Fuerza de la perturbación en los splits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26"/>
          <p:cNvSpPr/>
          <p:nvPr/>
        </p:nvSpPr>
        <p:spPr>
          <a:xfrm>
            <a:off x="7680960" y="2057400"/>
            <a:ext cx="1051200" cy="4111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7"/>
          <p:cNvSpPr/>
          <p:nvPr/>
        </p:nvSpPr>
        <p:spPr>
          <a:xfrm>
            <a:off x="7680960" y="207576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 – 10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8"/>
          <p:cNvSpPr/>
          <p:nvPr/>
        </p:nvSpPr>
        <p:spPr>
          <a:xfrm>
            <a:off x="4800600" y="2880360"/>
            <a:ext cx="411444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29"/>
          <p:cNvSpPr/>
          <p:nvPr/>
        </p:nvSpPr>
        <p:spPr>
          <a:xfrm>
            <a:off x="4800600" y="2880360"/>
            <a:ext cx="63720" cy="822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30"/>
          <p:cNvSpPr/>
          <p:nvPr/>
        </p:nvSpPr>
        <p:spPr>
          <a:xfrm>
            <a:off x="4965120" y="2944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l2_leaf_reg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31"/>
          <p:cNvSpPr/>
          <p:nvPr/>
        </p:nvSpPr>
        <p:spPr>
          <a:xfrm>
            <a:off x="4965120" y="32828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Regularización L2 en las hojas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32"/>
          <p:cNvSpPr/>
          <p:nvPr/>
        </p:nvSpPr>
        <p:spPr>
          <a:xfrm>
            <a:off x="7680960" y="3063240"/>
            <a:ext cx="1051200" cy="411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33"/>
          <p:cNvSpPr/>
          <p:nvPr/>
        </p:nvSpPr>
        <p:spPr>
          <a:xfrm>
            <a:off x="7680960" y="30816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 – 10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"/>
          <p:cNvSpPr/>
          <p:nvPr/>
        </p:nvSpPr>
        <p:spPr>
          <a:xfrm>
            <a:off x="45720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Resultados del modelo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"/>
          <p:cNvSpPr/>
          <p:nvPr/>
        </p:nvSpPr>
        <p:spPr>
          <a:xfrm>
            <a:off x="320040" y="914400"/>
            <a:ext cx="260568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3"/>
          <p:cNvSpPr/>
          <p:nvPr/>
        </p:nvSpPr>
        <p:spPr>
          <a:xfrm>
            <a:off x="320040" y="914400"/>
            <a:ext cx="2605680" cy="637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"/>
          <p:cNvSpPr/>
          <p:nvPr/>
        </p:nvSpPr>
        <p:spPr>
          <a:xfrm>
            <a:off x="320040" y="102420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ROC AUC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5"/>
          <p:cNvSpPr/>
          <p:nvPr/>
        </p:nvSpPr>
        <p:spPr>
          <a:xfrm>
            <a:off x="320040" y="132588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1E4D8C"/>
                </a:solidFill>
                <a:effectLst/>
                <a:uFillTx/>
                <a:latin typeface="Calibri"/>
                <a:ea typeface="Calibri"/>
              </a:rPr>
              <a:t>0.75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6"/>
          <p:cNvSpPr/>
          <p:nvPr/>
        </p:nvSpPr>
        <p:spPr>
          <a:xfrm>
            <a:off x="411480" y="23317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Capacidad discriminante del modelo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7"/>
          <p:cNvSpPr/>
          <p:nvPr/>
        </p:nvSpPr>
        <p:spPr>
          <a:xfrm>
            <a:off x="3154680" y="914400"/>
            <a:ext cx="260568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8"/>
          <p:cNvSpPr/>
          <p:nvPr/>
        </p:nvSpPr>
        <p:spPr>
          <a:xfrm>
            <a:off x="3154680" y="914400"/>
            <a:ext cx="2605680" cy="63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9"/>
          <p:cNvSpPr/>
          <p:nvPr/>
        </p:nvSpPr>
        <p:spPr>
          <a:xfrm>
            <a:off x="3154680" y="102420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Precisión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0"/>
          <p:cNvSpPr/>
          <p:nvPr/>
        </p:nvSpPr>
        <p:spPr>
          <a:xfrm>
            <a:off x="3154680" y="132588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0E7490"/>
                </a:solidFill>
                <a:effectLst/>
                <a:uFillTx/>
                <a:latin typeface="Calibri"/>
                <a:ea typeface="Calibri"/>
              </a:rPr>
              <a:t>0.34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1"/>
          <p:cNvSpPr/>
          <p:nvPr/>
        </p:nvSpPr>
        <p:spPr>
          <a:xfrm>
            <a:off x="3246120" y="23317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 los alertados, cuántos son graves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2"/>
          <p:cNvSpPr/>
          <p:nvPr/>
        </p:nvSpPr>
        <p:spPr>
          <a:xfrm>
            <a:off x="5989320" y="914400"/>
            <a:ext cx="2605680" cy="15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3"/>
          <p:cNvSpPr/>
          <p:nvPr/>
        </p:nvSpPr>
        <p:spPr>
          <a:xfrm>
            <a:off x="5989320" y="914400"/>
            <a:ext cx="2605680" cy="6372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4"/>
          <p:cNvSpPr/>
          <p:nvPr/>
        </p:nvSpPr>
        <p:spPr>
          <a:xfrm>
            <a:off x="5989320" y="102420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Recall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5"/>
          <p:cNvSpPr/>
          <p:nvPr/>
        </p:nvSpPr>
        <p:spPr>
          <a:xfrm>
            <a:off x="5989320" y="1325880"/>
            <a:ext cx="2605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E8500A"/>
                </a:solidFill>
                <a:effectLst/>
                <a:uFillTx/>
                <a:latin typeface="Calibri"/>
                <a:ea typeface="Calibri"/>
              </a:rPr>
              <a:t>0.71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6"/>
          <p:cNvSpPr/>
          <p:nvPr/>
        </p:nvSpPr>
        <p:spPr>
          <a:xfrm>
            <a:off x="6080760" y="23317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Accidentes graves detectados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7"/>
          <p:cNvSpPr/>
          <p:nvPr/>
        </p:nvSpPr>
        <p:spPr>
          <a:xfrm>
            <a:off x="320040" y="2788920"/>
            <a:ext cx="3382920" cy="2251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8"/>
          <p:cNvSpPr/>
          <p:nvPr/>
        </p:nvSpPr>
        <p:spPr>
          <a:xfrm>
            <a:off x="320040" y="2788920"/>
            <a:ext cx="3382920" cy="543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9"/>
          <p:cNvSpPr/>
          <p:nvPr/>
        </p:nvSpPr>
        <p:spPr>
          <a:xfrm>
            <a:off x="411480" y="286200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Matriz de confusión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8" name="Image 0" descr="preencoded.png"/>
          <p:cNvPicPr/>
          <p:nvPr/>
        </p:nvPicPr>
        <p:blipFill>
          <a:blip r:embed="rId1"/>
          <a:stretch/>
        </p:blipFill>
        <p:spPr>
          <a:xfrm>
            <a:off x="457200" y="3200400"/>
            <a:ext cx="3154320" cy="165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Shape 20"/>
          <p:cNvSpPr/>
          <p:nvPr/>
        </p:nvSpPr>
        <p:spPr>
          <a:xfrm>
            <a:off x="3931920" y="2788920"/>
            <a:ext cx="489168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1"/>
          <p:cNvSpPr/>
          <p:nvPr/>
        </p:nvSpPr>
        <p:spPr>
          <a:xfrm>
            <a:off x="3931920" y="2788920"/>
            <a:ext cx="4891680" cy="5436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2"/>
          <p:cNvSpPr/>
          <p:nvPr/>
        </p:nvSpPr>
        <p:spPr>
          <a:xfrm>
            <a:off x="4023360" y="2862000"/>
            <a:ext cx="4708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Interpretación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3"/>
          <p:cNvSpPr/>
          <p:nvPr/>
        </p:nvSpPr>
        <p:spPr>
          <a:xfrm>
            <a:off x="4023360" y="3291840"/>
            <a:ext cx="685440" cy="3654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4"/>
          <p:cNvSpPr/>
          <p:nvPr/>
        </p:nvSpPr>
        <p:spPr>
          <a:xfrm>
            <a:off x="4023360" y="3319200"/>
            <a:ext cx="685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71.74%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5"/>
          <p:cNvSpPr/>
          <p:nvPr/>
        </p:nvSpPr>
        <p:spPr>
          <a:xfrm>
            <a:off x="4800600" y="331920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 los accidentes graves son correctamente detectados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(Recall clase Severa)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6"/>
          <p:cNvSpPr/>
          <p:nvPr/>
        </p:nvSpPr>
        <p:spPr>
          <a:xfrm>
            <a:off x="4023360" y="3858840"/>
            <a:ext cx="685440" cy="3654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7"/>
          <p:cNvSpPr/>
          <p:nvPr/>
        </p:nvSpPr>
        <p:spPr>
          <a:xfrm>
            <a:off x="4023360" y="3886200"/>
            <a:ext cx="685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65.28%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8"/>
          <p:cNvSpPr/>
          <p:nvPr/>
        </p:nvSpPr>
        <p:spPr>
          <a:xfrm>
            <a:off x="4800600" y="388620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 los leves clasificados correctamente (Recall clase Leve)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9"/>
          <p:cNvSpPr/>
          <p:nvPr/>
        </p:nvSpPr>
        <p:spPr>
          <a:xfrm>
            <a:off x="4023360" y="4425840"/>
            <a:ext cx="685440" cy="365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30"/>
          <p:cNvSpPr/>
          <p:nvPr/>
        </p:nvSpPr>
        <p:spPr>
          <a:xfrm>
            <a:off x="4023360" y="4453200"/>
            <a:ext cx="685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34.72%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31"/>
          <p:cNvSpPr/>
          <p:nvPr/>
        </p:nvSpPr>
        <p:spPr>
          <a:xfrm>
            <a:off x="4800600" y="445320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 falsos positivos — graves predichos incorrectamente como leves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"/>
          <p:cNvSpPr/>
          <p:nvPr/>
        </p:nvSpPr>
        <p:spPr>
          <a:xfrm>
            <a:off x="45720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Ajuste del umbral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"/>
          <p:cNvSpPr/>
          <p:nvPr/>
        </p:nvSpPr>
        <p:spPr>
          <a:xfrm>
            <a:off x="365760" y="960120"/>
            <a:ext cx="8412120" cy="731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4" name="Image 0" descr="preencoded.png"/>
          <p:cNvPicPr/>
          <p:nvPr/>
        </p:nvPicPr>
        <p:blipFill>
          <a:blip r:embed="rId1"/>
          <a:stretch/>
        </p:blipFill>
        <p:spPr>
          <a:xfrm>
            <a:off x="502920" y="10789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Text 3"/>
          <p:cNvSpPr/>
          <p:nvPr/>
        </p:nvSpPr>
        <p:spPr>
          <a:xfrm>
            <a:off x="1078920" y="107892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crítico de emergencias médicas: es preferible enviar recursos de más que perderse un accidente grave.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4"/>
          <p:cNvSpPr/>
          <p:nvPr/>
        </p:nvSpPr>
        <p:spPr>
          <a:xfrm>
            <a:off x="4979880" y="1868760"/>
            <a:ext cx="3840120" cy="1371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5"/>
          <p:cNvSpPr/>
          <p:nvPr/>
        </p:nvSpPr>
        <p:spPr>
          <a:xfrm>
            <a:off x="4979880" y="1868760"/>
            <a:ext cx="3840120" cy="637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8" name="Image 1" descr="preencoded.png"/>
          <p:cNvPicPr/>
          <p:nvPr/>
        </p:nvPicPr>
        <p:blipFill>
          <a:blip r:embed="rId2"/>
          <a:stretch/>
        </p:blipFill>
        <p:spPr>
          <a:xfrm>
            <a:off x="5117040" y="20516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 6"/>
          <p:cNvSpPr/>
          <p:nvPr/>
        </p:nvSpPr>
        <p:spPr>
          <a:xfrm>
            <a:off x="5665680" y="19602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Umbral 0.5 (defecto)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7"/>
          <p:cNvSpPr/>
          <p:nvPr/>
        </p:nvSpPr>
        <p:spPr>
          <a:xfrm>
            <a:off x="5665680" y="23259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Recall: 0.71   ·   Precision: 0.34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8"/>
          <p:cNvSpPr/>
          <p:nvPr/>
        </p:nvSpPr>
        <p:spPr>
          <a:xfrm>
            <a:off x="5074200" y="288000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Balance estándar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9"/>
          <p:cNvSpPr/>
          <p:nvPr/>
        </p:nvSpPr>
        <p:spPr>
          <a:xfrm>
            <a:off x="4979880" y="3488760"/>
            <a:ext cx="3840120" cy="1371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0"/>
          <p:cNvSpPr/>
          <p:nvPr/>
        </p:nvSpPr>
        <p:spPr>
          <a:xfrm>
            <a:off x="4979880" y="3488760"/>
            <a:ext cx="3840120" cy="6372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4" name="Image 2" descr="preencoded.png"/>
          <p:cNvPicPr/>
          <p:nvPr/>
        </p:nvPicPr>
        <p:blipFill>
          <a:blip r:embed="rId3"/>
          <a:stretch/>
        </p:blipFill>
        <p:spPr>
          <a:xfrm>
            <a:off x="5117040" y="36716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Text 11"/>
          <p:cNvSpPr/>
          <p:nvPr/>
        </p:nvSpPr>
        <p:spPr>
          <a:xfrm>
            <a:off x="5665680" y="35802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Umbral 0.25 (ajustado)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2"/>
          <p:cNvSpPr/>
          <p:nvPr/>
        </p:nvSpPr>
        <p:spPr>
          <a:xfrm>
            <a:off x="5665680" y="39459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Recall: 0.95   ·   Precision: ~0.20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3"/>
          <p:cNvSpPr/>
          <p:nvPr/>
        </p:nvSpPr>
        <p:spPr>
          <a:xfrm>
            <a:off x="5117040" y="446724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Recall máximo · más alertas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4"/>
          <p:cNvSpPr/>
          <p:nvPr/>
        </p:nvSpPr>
        <p:spPr>
          <a:xfrm>
            <a:off x="365760" y="1914120"/>
            <a:ext cx="3774240" cy="31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5"/>
          <p:cNvSpPr/>
          <p:nvPr/>
        </p:nvSpPr>
        <p:spPr>
          <a:xfrm>
            <a:off x="365760" y="1800000"/>
            <a:ext cx="3774240" cy="114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0" name="Image 3" descr="preencoded.png"/>
          <p:cNvPicPr/>
          <p:nvPr/>
        </p:nvPicPr>
        <p:blipFill>
          <a:blip r:embed="rId4"/>
          <a:stretch/>
        </p:blipFill>
        <p:spPr>
          <a:xfrm>
            <a:off x="411480" y="1980000"/>
            <a:ext cx="3548520" cy="28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"/>
          <p:cNvSpPr/>
          <p:nvPr/>
        </p:nvSpPr>
        <p:spPr>
          <a:xfrm>
            <a:off x="45720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Limitaciones y mejoras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"/>
          <p:cNvSpPr/>
          <p:nvPr/>
        </p:nvSpPr>
        <p:spPr>
          <a:xfrm>
            <a:off x="365760" y="91440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Limitaciones actuales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3"/>
          <p:cNvSpPr/>
          <p:nvPr/>
        </p:nvSpPr>
        <p:spPr>
          <a:xfrm>
            <a:off x="365760" y="1298520"/>
            <a:ext cx="4114440" cy="36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4"/>
          <p:cNvSpPr/>
          <p:nvPr/>
        </p:nvSpPr>
        <p:spPr>
          <a:xfrm>
            <a:off x="365760" y="146304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5"/>
          <p:cNvSpPr/>
          <p:nvPr/>
        </p:nvSpPr>
        <p:spPr>
          <a:xfrm>
            <a:off x="365760" y="1463040"/>
            <a:ext cx="63720" cy="1005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7" name="Image 0" descr="preencoded.png"/>
          <p:cNvPicPr/>
          <p:nvPr/>
        </p:nvPicPr>
        <p:blipFill>
          <a:blip r:embed="rId1"/>
          <a:stretch/>
        </p:blipFill>
        <p:spPr>
          <a:xfrm>
            <a:off x="530280" y="171000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Text 6"/>
          <p:cNvSpPr/>
          <p:nvPr/>
        </p:nvSpPr>
        <p:spPr>
          <a:xfrm>
            <a:off x="1051560" y="164592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Recoleccion de datos sin vulnerar la privacidad de las personas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7"/>
          <p:cNvSpPr/>
          <p:nvPr/>
        </p:nvSpPr>
        <p:spPr>
          <a:xfrm>
            <a:off x="365760" y="2651760"/>
            <a:ext cx="41144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8"/>
          <p:cNvSpPr/>
          <p:nvPr/>
        </p:nvSpPr>
        <p:spPr>
          <a:xfrm>
            <a:off x="365760" y="2651760"/>
            <a:ext cx="63720" cy="1005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1" name="Image 1" descr="preencoded.png"/>
          <p:cNvPicPr/>
          <p:nvPr/>
        </p:nvPicPr>
        <p:blipFill>
          <a:blip r:embed="rId2"/>
          <a:stretch/>
        </p:blipFill>
        <p:spPr>
          <a:xfrm>
            <a:off x="530280" y="28987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Text 9"/>
          <p:cNvSpPr/>
          <p:nvPr/>
        </p:nvSpPr>
        <p:spPr>
          <a:xfrm>
            <a:off x="1051560" y="283464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Los accidentes tienen un componente inherente de aleatoriedad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0"/>
          <p:cNvSpPr/>
          <p:nvPr/>
        </p:nvSpPr>
        <p:spPr>
          <a:xfrm>
            <a:off x="4709160" y="868680"/>
            <a:ext cx="36360" cy="3977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1"/>
          <p:cNvSpPr/>
          <p:nvPr/>
        </p:nvSpPr>
        <p:spPr>
          <a:xfrm>
            <a:off x="4937760" y="91440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Líneas de mejora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2"/>
          <p:cNvSpPr/>
          <p:nvPr/>
        </p:nvSpPr>
        <p:spPr>
          <a:xfrm>
            <a:off x="4937760" y="1298520"/>
            <a:ext cx="3840120" cy="36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3"/>
          <p:cNvSpPr/>
          <p:nvPr/>
        </p:nvSpPr>
        <p:spPr>
          <a:xfrm>
            <a:off x="4937760" y="1463040"/>
            <a:ext cx="384012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4"/>
          <p:cNvSpPr/>
          <p:nvPr/>
        </p:nvSpPr>
        <p:spPr>
          <a:xfrm>
            <a:off x="4937760" y="1463040"/>
            <a:ext cx="63720" cy="1234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8" name="Image 2" descr="preencoded.png"/>
          <p:cNvPicPr/>
          <p:nvPr/>
        </p:nvPicPr>
        <p:blipFill>
          <a:blip r:embed="rId3"/>
          <a:stretch/>
        </p:blipFill>
        <p:spPr>
          <a:xfrm>
            <a:off x="5120640" y="18104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9" name="Text 15"/>
          <p:cNvSpPr/>
          <p:nvPr/>
        </p:nvSpPr>
        <p:spPr>
          <a:xfrm>
            <a:off x="5687640" y="1645920"/>
            <a:ext cx="2925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Recolectar datos con una mayor capacidad predicticva a la hora de ralizar la inferencia.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6"/>
          <p:cNvSpPr/>
          <p:nvPr/>
        </p:nvSpPr>
        <p:spPr>
          <a:xfrm>
            <a:off x="4937760" y="2880360"/>
            <a:ext cx="384012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17"/>
          <p:cNvSpPr/>
          <p:nvPr/>
        </p:nvSpPr>
        <p:spPr>
          <a:xfrm>
            <a:off x="4937760" y="2880360"/>
            <a:ext cx="63720" cy="123408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2" name="Image 3" descr="preencoded.png"/>
          <p:cNvPicPr/>
          <p:nvPr/>
        </p:nvPicPr>
        <p:blipFill>
          <a:blip r:embed="rId4"/>
          <a:stretch/>
        </p:blipFill>
        <p:spPr>
          <a:xfrm>
            <a:off x="5120640" y="32277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Text 18"/>
          <p:cNvSpPr/>
          <p:nvPr/>
        </p:nvSpPr>
        <p:spPr>
          <a:xfrm>
            <a:off x="5687640" y="3063240"/>
            <a:ext cx="2925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Modelos más complejos que usen como dato imágenes y video.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1"/>
          <p:cNvSpPr/>
          <p:nvPr/>
        </p:nvSpPr>
        <p:spPr>
          <a:xfrm>
            <a:off x="5943600" y="0"/>
            <a:ext cx="3200040" cy="514332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2"/>
          <p:cNvSpPr/>
          <p:nvPr/>
        </p:nvSpPr>
        <p:spPr>
          <a:xfrm>
            <a:off x="5779080" y="0"/>
            <a:ext cx="109440" cy="5143320"/>
          </a:xfrm>
          <a:prstGeom prst="rect">
            <a:avLst/>
          </a:prstGeom>
          <a:solidFill>
            <a:srgbClr val="E8500A"/>
          </a:solidFill>
          <a:ln w="12700">
            <a:solidFill>
              <a:srgbClr val="E850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3"/>
          <p:cNvSpPr/>
          <p:nvPr/>
        </p:nvSpPr>
        <p:spPr>
          <a:xfrm>
            <a:off x="548640" y="1188720"/>
            <a:ext cx="502884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DEMO WEB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5"/>
          <p:cNvSpPr/>
          <p:nvPr/>
        </p:nvSpPr>
        <p:spPr>
          <a:xfrm>
            <a:off x="548640" y="2743200"/>
            <a:ext cx="2285640" cy="45360"/>
          </a:xfrm>
          <a:prstGeom prst="rect">
            <a:avLst/>
          </a:prstGeom>
          <a:solidFill>
            <a:srgbClr val="2E73C2"/>
          </a:solidFill>
          <a:ln w="12700">
            <a:solidFill>
              <a:srgbClr val="2E73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6"/>
          <p:cNvSpPr/>
          <p:nvPr/>
        </p:nvSpPr>
        <p:spPr>
          <a:xfrm>
            <a:off x="548640" y="288036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0B4CC"/>
                </a:solidFill>
                <a:effectLst/>
                <a:uFillTx/>
                <a:latin typeface="Calibri"/>
                <a:ea typeface="Calibri"/>
              </a:rPr>
              <a:t>Sistema predictivo de severidad de accidentes de tráfico en tiempo real.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0" name="Image 0" descr="preencoded.png"/>
          <p:cNvPicPr/>
          <p:nvPr/>
        </p:nvPicPr>
        <p:blipFill>
          <a:blip r:embed="rId1"/>
          <a:stretch/>
        </p:blipFill>
        <p:spPr>
          <a:xfrm>
            <a:off x="6291720" y="162000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Text 7"/>
          <p:cNvSpPr/>
          <p:nvPr/>
        </p:nvSpPr>
        <p:spPr>
          <a:xfrm>
            <a:off x="7020000" y="868680"/>
            <a:ext cx="18950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Predicción en tiempo real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2" name="Image 2" descr="preencoded.png"/>
          <p:cNvPicPr/>
          <p:nvPr/>
        </p:nvPicPr>
        <p:blipFill>
          <a:blip r:embed="rId2"/>
          <a:stretch/>
        </p:blipFill>
        <p:spPr>
          <a:xfrm>
            <a:off x="6291720" y="251172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9"/>
          <p:cNvSpPr/>
          <p:nvPr/>
        </p:nvSpPr>
        <p:spPr>
          <a:xfrm>
            <a:off x="7020000" y="26031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Dashboard de resultados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0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1"/>
          <p:cNvSpPr/>
          <p:nvPr/>
        </p:nvSpPr>
        <p:spPr>
          <a:xfrm>
            <a:off x="457200" y="47732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Predictivo de Severidad · STATS19 UK · CatBoost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LibreOffice/26.2.3.1$Windows_X86_64 LibreOffice_project/d444ea7836163cb762d1627df3bc33e112fa142a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2026-05-12T22:11:30Z</dcterms:created>
  <dc:creator>PptxGenJS</dc:creator>
  <dc:description/>
  <dc:language>es-ES</dc:language>
  <cp:lastModifiedBy/>
  <dcterms:modified xsi:type="dcterms:W3CDTF">2026-05-13T23:36:52Z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